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rtlCol="0" anchor="ctr"/>
          <a:lstStyle/>
          <a:p>
            <a:pPr indent="0" marL="0">
              <a:buNone/>
            </a:pPr>
            <a:r>
              <a:rPr lang="en-US" sz="1500" b="1" spc="500" kern="0" dirty="0">
                <a:solidFill>
                  <a:srgbClr val="F1EFE7"/>
                </a:solidFill>
                <a:latin typeface="Arial" pitchFamily="34" charset="0"/>
                <a:ea typeface="Arial" pitchFamily="34" charset="-122"/>
                <a:cs typeface="Arial" pitchFamily="34" charset="-120"/>
              </a:rPr>
              <a:t>STANDBY</a:t>
            </a:r>
            <a:endParaRPr lang="en-US" sz="1500" dirty="0"/>
          </a:p>
        </p:txBody>
      </p:sp>
      <p:sp>
        <p:nvSpPr>
          <p:cNvPr id="3" name="Text 1"/>
          <p:cNvSpPr/>
          <p:nvPr/>
        </p:nvSpPr>
        <p:spPr>
          <a:xfrm>
            <a:off x="658368" y="868680"/>
            <a:ext cx="5486400" cy="274320"/>
          </a:xfrm>
          <a:prstGeom prst="rect">
            <a:avLst/>
          </a:prstGeom>
          <a:noFill/>
          <a:ln/>
        </p:spPr>
        <p:txBody>
          <a:bodyPr wrap="square" rtlCol="0" anchor="ctr"/>
          <a:lstStyle/>
          <a:p>
            <a:pPr indent="0" marL="0">
              <a:buNone/>
            </a:pPr>
            <a:r>
              <a:rPr lang="en-US" sz="800" spc="400" kern="0" dirty="0">
                <a:solidFill>
                  <a:srgbClr val="6F7D73"/>
                </a:solidFill>
                <a:latin typeface="Arial" pitchFamily="34" charset="0"/>
                <a:ea typeface="Arial" pitchFamily="34" charset="-122"/>
                <a:cs typeface="Arial" pitchFamily="34" charset="-120"/>
              </a:rPr>
              <a:t>PROMPT BOOK</a:t>
            </a:r>
            <a:endParaRPr lang="en-US" sz="800" dirty="0"/>
          </a:p>
        </p:txBody>
      </p:sp>
      <p:sp>
        <p:nvSpPr>
          <p:cNvPr id="4" name="Text 2"/>
          <p:cNvSpPr/>
          <p:nvPr/>
        </p:nvSpPr>
        <p:spPr>
          <a:xfrm>
            <a:off x="640080" y="1828800"/>
            <a:ext cx="8229600" cy="365760"/>
          </a:xfrm>
          <a:prstGeom prst="rect">
            <a:avLst/>
          </a:prstGeom>
          <a:noFill/>
          <a:ln/>
        </p:spPr>
        <p:txBody>
          <a:bodyPr wrap="square" rtlCol="0" anchor="ctr"/>
          <a:lstStyle/>
          <a:p>
            <a:pPr indent="0" marL="0">
              <a:buNone/>
            </a:pPr>
            <a:r>
              <a:rPr lang="en-US" sz="1200" b="1" spc="500" kern="0" dirty="0">
                <a:solidFill>
                  <a:srgbClr val="9FB8A6"/>
                </a:solidFill>
                <a:latin typeface="Arial" pitchFamily="34" charset="0"/>
                <a:ea typeface="Arial" pitchFamily="34" charset="-122"/>
                <a:cs typeface="Arial" pitchFamily="34" charset="-120"/>
              </a:rPr>
              <a:t>PRODUCT OVERVIEW &amp; ROADMAP</a:t>
            </a:r>
            <a:endParaRPr lang="en-US" sz="1200" dirty="0"/>
          </a:p>
        </p:txBody>
      </p:sp>
      <p:sp>
        <p:nvSpPr>
          <p:cNvPr id="5" name="Text 3"/>
          <p:cNvSpPr/>
          <p:nvPr/>
        </p:nvSpPr>
        <p:spPr>
          <a:xfrm>
            <a:off x="603504" y="2194560"/>
            <a:ext cx="10058400" cy="1463040"/>
          </a:xfrm>
          <a:prstGeom prst="rect">
            <a:avLst/>
          </a:prstGeom>
          <a:noFill/>
          <a:ln/>
        </p:spPr>
        <p:txBody>
          <a:bodyPr wrap="square" rtlCol="0" anchor="ctr"/>
          <a:lstStyle/>
          <a:p>
            <a:pPr indent="0" marL="0">
              <a:buNone/>
            </a:pPr>
            <a:r>
              <a:rPr lang="en-US" sz="8400" b="1" dirty="0">
                <a:solidFill>
                  <a:srgbClr val="F1EFE7"/>
                </a:solidFill>
                <a:latin typeface="Arial" pitchFamily="34" charset="0"/>
                <a:ea typeface="Arial" pitchFamily="34" charset="-122"/>
                <a:cs typeface="Arial" pitchFamily="34" charset="-120"/>
              </a:rPr>
              <a:t>Stand</a:t>
            </a:r>
            <a:pPr indent="0" marL="0">
              <a:buNone/>
            </a:pPr>
            <a:r>
              <a:rPr lang="en-US" sz="8400" b="1" dirty="0">
                <a:solidFill>
                  <a:srgbClr val="2FAE6B"/>
                </a:solidFill>
                <a:latin typeface="Arial" pitchFamily="34" charset="0"/>
                <a:ea typeface="Arial" pitchFamily="34" charset="-122"/>
                <a:cs typeface="Arial" pitchFamily="34" charset="-120"/>
              </a:rPr>
              <a:t>by.</a:t>
            </a:r>
            <a:endParaRPr lang="en-US" sz="8400" dirty="0"/>
          </a:p>
        </p:txBody>
      </p:sp>
      <p:sp>
        <p:nvSpPr>
          <p:cNvPr id="6" name="Text 4"/>
          <p:cNvSpPr/>
          <p:nvPr/>
        </p:nvSpPr>
        <p:spPr>
          <a:xfrm>
            <a:off x="640080" y="3794760"/>
            <a:ext cx="8229600" cy="640080"/>
          </a:xfrm>
          <a:prstGeom prst="rect">
            <a:avLst/>
          </a:prstGeom>
          <a:noFill/>
          <a:ln/>
        </p:spPr>
        <p:txBody>
          <a:bodyPr wrap="square" rtlCol="0" anchor="ctr"/>
          <a:lstStyle/>
          <a:p>
            <a:pPr indent="0" marL="0">
              <a:buNone/>
            </a:pPr>
            <a:r>
              <a:rPr lang="en-US" sz="2200" b="1" dirty="0">
                <a:solidFill>
                  <a:srgbClr val="F1EFE7"/>
                </a:solidFill>
                <a:latin typeface="Arial" pitchFamily="34" charset="0"/>
                <a:ea typeface="Arial" pitchFamily="34" charset="-122"/>
                <a:cs typeface="Arial" pitchFamily="34" charset="-120"/>
              </a:rPr>
              <a:t>The stage manager’s prompt book, reimagined for the rehearsal room.</a:t>
            </a:r>
            <a:endParaRPr lang="en-US" sz="2200" dirty="0"/>
          </a:p>
        </p:txBody>
      </p:sp>
      <p:sp>
        <p:nvSpPr>
          <p:cNvPr id="7" name="Text 5"/>
          <p:cNvSpPr/>
          <p:nvPr/>
        </p:nvSpPr>
        <p:spPr>
          <a:xfrm>
            <a:off x="640080" y="4572000"/>
            <a:ext cx="9601200" cy="914400"/>
          </a:xfrm>
          <a:prstGeom prst="rect">
            <a:avLst/>
          </a:prstGeom>
          <a:noFill/>
          <a:ln/>
        </p:spPr>
        <p:txBody>
          <a:bodyPr wrap="square" rtlCol="0" anchor="ctr"/>
          <a:lstStyle/>
          <a:p>
            <a:pPr indent="0" marL="0">
              <a:lnSpc>
                <a:spcPct val="130000"/>
              </a:lnSpc>
              <a:buNone/>
            </a:pPr>
            <a:r>
              <a:rPr lang="en-US" sz="1400" dirty="0">
                <a:solidFill>
                  <a:srgbClr val="A7B6AB"/>
                </a:solidFill>
                <a:latin typeface="Arial" pitchFamily="34" charset="0"/>
                <a:ea typeface="Arial" pitchFamily="34" charset="-122"/>
                <a:cs typeface="Arial" pitchFamily="34" charset="-120"/>
              </a:rPr>
              <a:t>One calm, local-first home for the company, the calendar, the cues, and the reports. Built for stage managers everywhere, from Off-Off-Broadway (OOB) black boxes to Actors’ Equity Association (AEA) houses.</a:t>
            </a:r>
            <a:endParaRPr lang="en-US" sz="1400" dirty="0"/>
          </a:p>
        </p:txBody>
      </p:sp>
      <p:sp>
        <p:nvSpPr>
          <p:cNvPr id="8" name="Text 6"/>
          <p:cNvSpPr/>
          <p:nvPr/>
        </p:nvSpPr>
        <p:spPr>
          <a:xfrm>
            <a:off x="640080" y="6309360"/>
            <a:ext cx="6400800" cy="274320"/>
          </a:xfrm>
          <a:prstGeom prst="rect">
            <a:avLst/>
          </a:prstGeom>
          <a:noFill/>
          <a:ln/>
        </p:spPr>
        <p:txBody>
          <a:bodyPr wrap="square" rtlCol="0" anchor="ctr"/>
          <a:lstStyle/>
          <a:p>
            <a:pPr indent="0" marL="0">
              <a:buNone/>
            </a:pPr>
            <a:r>
              <a:rPr lang="en-US" sz="900" dirty="0">
                <a:solidFill>
                  <a:srgbClr val="6F7D73"/>
                </a:solidFill>
                <a:latin typeface="Arial" pitchFamily="34" charset="0"/>
                <a:ea typeface="Arial" pitchFamily="34" charset="-122"/>
                <a:cs typeface="Arial" pitchFamily="34" charset="-120"/>
              </a:rPr>
              <a:t>reptarbro.github.io/Stagemgmt</a:t>
            </a:r>
            <a:endParaRPr lang="en-US" sz="900" dirty="0"/>
          </a:p>
        </p:txBody>
      </p:sp>
      <p:sp>
        <p:nvSpPr>
          <p:cNvPr id="9" name="Text 7"/>
          <p:cNvSpPr/>
          <p:nvPr/>
        </p:nvSpPr>
        <p:spPr>
          <a:xfrm>
            <a:off x="7955280" y="6309360"/>
            <a:ext cx="3657600" cy="274320"/>
          </a:xfrm>
          <a:prstGeom prst="rect">
            <a:avLst/>
          </a:prstGeom>
          <a:noFill/>
          <a:ln/>
        </p:spPr>
        <p:txBody>
          <a:bodyPr wrap="square" rtlCol="0" anchor="ctr"/>
          <a:lstStyle/>
          <a:p>
            <a:pPr algn="r" indent="0" marL="0">
              <a:buNone/>
            </a:pPr>
            <a:r>
              <a:rPr lang="en-US" sz="900" dirty="0">
                <a:solidFill>
                  <a:srgbClr val="6F7D73"/>
                </a:solidFill>
                <a:latin typeface="Arial" pitchFamily="34" charset="0"/>
                <a:ea typeface="Arial" pitchFamily="34" charset="-122"/>
                <a:cs typeface="Arial" pitchFamily="34" charset="-120"/>
              </a:rPr>
              <a:t>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384048"/>
            <a:ext cx="9601200" cy="640080"/>
          </a:xfrm>
          <a:prstGeom prst="rect">
            <a:avLst/>
          </a:prstGeom>
          <a:noFill/>
          <a:ln/>
        </p:spPr>
        <p:txBody>
          <a:bodyPr wrap="square" rtlCol="0" anchor="ctr"/>
          <a:lstStyle/>
          <a:p>
            <a:pPr indent="0" marL="0">
              <a:buNone/>
            </a:pPr>
            <a:r>
              <a:rPr lang="en-US" sz="2600" b="1" dirty="0">
                <a:solidFill>
                  <a:srgbClr val="F1EFE7"/>
                </a:solidFill>
                <a:latin typeface="Arial" pitchFamily="34" charset="0"/>
                <a:ea typeface="Arial" pitchFamily="34" charset="-122"/>
                <a:cs typeface="Arial" pitchFamily="34" charset="-120"/>
              </a:rPr>
              <a:t>Purpose &amp; What’s Inside</a:t>
            </a:r>
            <a:endParaRPr lang="en-US" sz="2600" dirty="0"/>
          </a:p>
        </p:txBody>
      </p:sp>
      <p:sp>
        <p:nvSpPr>
          <p:cNvPr id="3" name="Text 1"/>
          <p:cNvSpPr/>
          <p:nvPr/>
        </p:nvSpPr>
        <p:spPr>
          <a:xfrm>
            <a:off x="10515600" y="384048"/>
            <a:ext cx="1097280" cy="640080"/>
          </a:xfrm>
          <a:prstGeom prst="rect">
            <a:avLst/>
          </a:prstGeom>
          <a:noFill/>
          <a:ln/>
        </p:spPr>
        <p:txBody>
          <a:bodyPr wrap="square" rtlCol="0" anchor="ctr"/>
          <a:lstStyle/>
          <a:p>
            <a:pPr algn="r" indent="0" marL="0">
              <a:buNone/>
            </a:pPr>
            <a:r>
              <a:rPr lang="en-US" sz="2200" b="1" dirty="0">
                <a:solidFill>
                  <a:srgbClr val="26302A"/>
                </a:solidFill>
                <a:latin typeface="Arial" pitchFamily="34" charset="0"/>
                <a:ea typeface="Arial" pitchFamily="34" charset="-122"/>
                <a:cs typeface="Arial" pitchFamily="34" charset="-120"/>
              </a:rPr>
              <a:t>01</a:t>
            </a:r>
            <a:endParaRPr lang="en-US" sz="2200" dirty="0"/>
          </a:p>
        </p:txBody>
      </p:sp>
      <p:sp>
        <p:nvSpPr>
          <p:cNvPr id="4" name="Shape 2"/>
          <p:cNvSpPr/>
          <p:nvPr/>
        </p:nvSpPr>
        <p:spPr>
          <a:xfrm>
            <a:off x="548640" y="1133856"/>
            <a:ext cx="11091672" cy="0"/>
          </a:xfrm>
          <a:prstGeom prst="line">
            <a:avLst/>
          </a:prstGeom>
          <a:noFill/>
          <a:ln w="25400">
            <a:solidFill>
              <a:srgbClr val="2FAE6B"/>
            </a:solidFill>
            <a:prstDash val="solid"/>
          </a:ln>
        </p:spPr>
      </p:sp>
      <p:sp>
        <p:nvSpPr>
          <p:cNvPr id="5" name="Shape 3"/>
          <p:cNvSpPr/>
          <p:nvPr/>
        </p:nvSpPr>
        <p:spPr>
          <a:xfrm>
            <a:off x="548640" y="1371600"/>
            <a:ext cx="3566160" cy="3200400"/>
          </a:xfrm>
          <a:prstGeom prst="roundRect">
            <a:avLst>
              <a:gd name="adj" fmla="val 2857"/>
            </a:avLst>
          </a:prstGeom>
          <a:solidFill>
            <a:srgbClr val="151B18"/>
          </a:solidFill>
          <a:ln w="12700">
            <a:solidFill>
              <a:srgbClr val="26302A"/>
            </a:solidFill>
            <a:prstDash val="solid"/>
          </a:ln>
        </p:spPr>
      </p:sp>
      <p:sp>
        <p:nvSpPr>
          <p:cNvPr id="6" name="Shape 4"/>
          <p:cNvSpPr/>
          <p:nvPr/>
        </p:nvSpPr>
        <p:spPr>
          <a:xfrm>
            <a:off x="804672" y="1627632"/>
            <a:ext cx="457200" cy="457200"/>
          </a:xfrm>
          <a:prstGeom prst="roundRect">
            <a:avLst>
              <a:gd name="adj" fmla="val 12000"/>
            </a:avLst>
          </a:prstGeom>
          <a:solidFill>
            <a:srgbClr val="1C7A4D"/>
          </a:solidFill>
          <a:ln w="12700">
            <a:solidFill>
              <a:srgbClr val="1C7A4D"/>
            </a:solidFill>
            <a:prstDash val="solid"/>
          </a:ln>
        </p:spPr>
      </p:sp>
      <p:sp>
        <p:nvSpPr>
          <p:cNvPr id="7" name="Text 5"/>
          <p:cNvSpPr/>
          <p:nvPr/>
        </p:nvSpPr>
        <p:spPr>
          <a:xfrm>
            <a:off x="804672" y="1627632"/>
            <a:ext cx="457200" cy="4572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p:nvPr/>
        </p:nvSpPr>
        <p:spPr>
          <a:xfrm>
            <a:off x="804672" y="2194560"/>
            <a:ext cx="3108960" cy="457200"/>
          </a:xfrm>
          <a:prstGeom prst="rect">
            <a:avLst/>
          </a:prstGeom>
          <a:noFill/>
          <a:ln/>
        </p:spPr>
        <p:txBody>
          <a:bodyPr wrap="square" rtlCol="0" anchor="ctr"/>
          <a:lstStyle/>
          <a:p>
            <a:pPr indent="0" marL="0">
              <a:buNone/>
            </a:pPr>
            <a:r>
              <a:rPr lang="en-US" sz="1500" b="1" dirty="0">
                <a:solidFill>
                  <a:srgbClr val="F1EFE7"/>
                </a:solidFill>
                <a:latin typeface="Arial" pitchFamily="34" charset="0"/>
                <a:ea typeface="Arial" pitchFamily="34" charset="-122"/>
                <a:cs typeface="Arial" pitchFamily="34" charset="-120"/>
              </a:rPr>
              <a:t>One place for everything</a:t>
            </a:r>
            <a:endParaRPr lang="en-US" sz="1500" dirty="0"/>
          </a:p>
        </p:txBody>
      </p:sp>
      <p:sp>
        <p:nvSpPr>
          <p:cNvPr id="9" name="Text 7"/>
          <p:cNvSpPr/>
          <p:nvPr/>
        </p:nvSpPr>
        <p:spPr>
          <a:xfrm>
            <a:off x="822960" y="2697480"/>
            <a:ext cx="3108960" cy="1737360"/>
          </a:xfrm>
          <a:prstGeom prst="rect">
            <a:avLst/>
          </a:prstGeom>
          <a:noFill/>
          <a:ln/>
        </p:spPr>
        <p:txBody>
          <a:bodyPr wrap="square" rtlCol="0" anchor="ctr"/>
          <a:lstStyle/>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Calls know who is cast</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Conflicts flag against calls</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Cue-to-cue appears at tech</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Switch shows in one tap</a:t>
            </a:r>
            <a:endParaRPr lang="en-US" sz="1100" dirty="0"/>
          </a:p>
        </p:txBody>
      </p:sp>
      <p:sp>
        <p:nvSpPr>
          <p:cNvPr id="10" name="Shape 8"/>
          <p:cNvSpPr/>
          <p:nvPr/>
        </p:nvSpPr>
        <p:spPr>
          <a:xfrm>
            <a:off x="4315968" y="1371600"/>
            <a:ext cx="3566160" cy="3200400"/>
          </a:xfrm>
          <a:prstGeom prst="roundRect">
            <a:avLst>
              <a:gd name="adj" fmla="val 2857"/>
            </a:avLst>
          </a:prstGeom>
          <a:solidFill>
            <a:srgbClr val="151B18"/>
          </a:solidFill>
          <a:ln w="12700">
            <a:solidFill>
              <a:srgbClr val="26302A"/>
            </a:solidFill>
            <a:prstDash val="solid"/>
          </a:ln>
        </p:spPr>
      </p:sp>
      <p:sp>
        <p:nvSpPr>
          <p:cNvPr id="11" name="Shape 9"/>
          <p:cNvSpPr/>
          <p:nvPr/>
        </p:nvSpPr>
        <p:spPr>
          <a:xfrm>
            <a:off x="4572000" y="1627632"/>
            <a:ext cx="457200" cy="457200"/>
          </a:xfrm>
          <a:prstGeom prst="roundRect">
            <a:avLst>
              <a:gd name="adj" fmla="val 12000"/>
            </a:avLst>
          </a:prstGeom>
          <a:solidFill>
            <a:srgbClr val="1C7A4D"/>
          </a:solidFill>
          <a:ln w="12700">
            <a:solidFill>
              <a:srgbClr val="1C7A4D"/>
            </a:solidFill>
            <a:prstDash val="solid"/>
          </a:ln>
        </p:spPr>
      </p:sp>
      <p:sp>
        <p:nvSpPr>
          <p:cNvPr id="12" name="Text 10"/>
          <p:cNvSpPr/>
          <p:nvPr/>
        </p:nvSpPr>
        <p:spPr>
          <a:xfrm>
            <a:off x="4572000" y="1627632"/>
            <a:ext cx="457200" cy="4572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3" name="Text 11"/>
          <p:cNvSpPr/>
          <p:nvPr/>
        </p:nvSpPr>
        <p:spPr>
          <a:xfrm>
            <a:off x="4572000" y="2194560"/>
            <a:ext cx="3108960" cy="457200"/>
          </a:xfrm>
          <a:prstGeom prst="rect">
            <a:avLst/>
          </a:prstGeom>
          <a:noFill/>
          <a:ln/>
        </p:spPr>
        <p:txBody>
          <a:bodyPr wrap="square" rtlCol="0" anchor="ctr"/>
          <a:lstStyle/>
          <a:p>
            <a:pPr indent="0" marL="0">
              <a:buNone/>
            </a:pPr>
            <a:r>
              <a:rPr lang="en-US" sz="1500" b="1" dirty="0">
                <a:solidFill>
                  <a:srgbClr val="F1EFE7"/>
                </a:solidFill>
                <a:latin typeface="Arial" pitchFamily="34" charset="0"/>
                <a:ea typeface="Arial" pitchFamily="34" charset="-122"/>
                <a:cs typeface="Arial" pitchFamily="34" charset="-120"/>
              </a:rPr>
              <a:t>Offline and private</a:t>
            </a:r>
            <a:endParaRPr lang="en-US" sz="1500" dirty="0"/>
          </a:p>
        </p:txBody>
      </p:sp>
      <p:sp>
        <p:nvSpPr>
          <p:cNvPr id="14" name="Text 12"/>
          <p:cNvSpPr/>
          <p:nvPr/>
        </p:nvSpPr>
        <p:spPr>
          <a:xfrm>
            <a:off x="4590288" y="2697480"/>
            <a:ext cx="3108960" cy="1737360"/>
          </a:xfrm>
          <a:prstGeom prst="rect">
            <a:avLst/>
          </a:prstGeom>
          <a:noFill/>
          <a:ln/>
        </p:spPr>
        <p:txBody>
          <a:bodyPr wrap="square" rtlCol="0" anchor="ctr"/>
          <a:lstStyle/>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Data lives on the device</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Loads instantly, anywhere</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One-file backup and restore</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Nothing leaves the device</a:t>
            </a:r>
            <a:endParaRPr lang="en-US" sz="1100" dirty="0"/>
          </a:p>
        </p:txBody>
      </p:sp>
      <p:sp>
        <p:nvSpPr>
          <p:cNvPr id="15" name="Shape 13"/>
          <p:cNvSpPr/>
          <p:nvPr/>
        </p:nvSpPr>
        <p:spPr>
          <a:xfrm>
            <a:off x="8083296" y="1371600"/>
            <a:ext cx="3566160" cy="3200400"/>
          </a:xfrm>
          <a:prstGeom prst="roundRect">
            <a:avLst>
              <a:gd name="adj" fmla="val 2857"/>
            </a:avLst>
          </a:prstGeom>
          <a:solidFill>
            <a:srgbClr val="151B18"/>
          </a:solidFill>
          <a:ln w="12700">
            <a:solidFill>
              <a:srgbClr val="26302A"/>
            </a:solidFill>
            <a:prstDash val="solid"/>
          </a:ln>
        </p:spPr>
      </p:sp>
      <p:sp>
        <p:nvSpPr>
          <p:cNvPr id="16" name="Shape 14"/>
          <p:cNvSpPr/>
          <p:nvPr/>
        </p:nvSpPr>
        <p:spPr>
          <a:xfrm>
            <a:off x="8339328" y="1627632"/>
            <a:ext cx="457200" cy="457200"/>
          </a:xfrm>
          <a:prstGeom prst="roundRect">
            <a:avLst>
              <a:gd name="adj" fmla="val 12000"/>
            </a:avLst>
          </a:prstGeom>
          <a:solidFill>
            <a:srgbClr val="1C7A4D"/>
          </a:solidFill>
          <a:ln w="12700">
            <a:solidFill>
              <a:srgbClr val="1C7A4D"/>
            </a:solidFill>
            <a:prstDash val="solid"/>
          </a:ln>
        </p:spPr>
      </p:sp>
      <p:sp>
        <p:nvSpPr>
          <p:cNvPr id="17" name="Text 15"/>
          <p:cNvSpPr/>
          <p:nvPr/>
        </p:nvSpPr>
        <p:spPr>
          <a:xfrm>
            <a:off x="8339328" y="1627632"/>
            <a:ext cx="457200" cy="45720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8" name="Text 16"/>
          <p:cNvSpPr/>
          <p:nvPr/>
        </p:nvSpPr>
        <p:spPr>
          <a:xfrm>
            <a:off x="8339328" y="2194560"/>
            <a:ext cx="3108960" cy="457200"/>
          </a:xfrm>
          <a:prstGeom prst="rect">
            <a:avLst/>
          </a:prstGeom>
          <a:noFill/>
          <a:ln/>
        </p:spPr>
        <p:txBody>
          <a:bodyPr wrap="square" rtlCol="0" anchor="ctr"/>
          <a:lstStyle/>
          <a:p>
            <a:pPr indent="0" marL="0">
              <a:buNone/>
            </a:pPr>
            <a:r>
              <a:rPr lang="en-US" sz="1500" b="1" dirty="0">
                <a:solidFill>
                  <a:srgbClr val="F1EFE7"/>
                </a:solidFill>
                <a:latin typeface="Arial" pitchFamily="34" charset="0"/>
                <a:ea typeface="Arial" pitchFamily="34" charset="-122"/>
                <a:cs typeface="Arial" pitchFamily="34" charset="-120"/>
              </a:rPr>
              <a:t>Paperwork you hand out</a:t>
            </a:r>
            <a:endParaRPr lang="en-US" sz="1500" dirty="0"/>
          </a:p>
        </p:txBody>
      </p:sp>
      <p:sp>
        <p:nvSpPr>
          <p:cNvPr id="19" name="Text 17"/>
          <p:cNvSpPr/>
          <p:nvPr/>
        </p:nvSpPr>
        <p:spPr>
          <a:xfrm>
            <a:off x="8357616" y="2697480"/>
            <a:ext cx="3108960" cy="1737360"/>
          </a:xfrm>
          <a:prstGeom prst="rect">
            <a:avLst/>
          </a:prstGeom>
          <a:noFill/>
          <a:ln/>
        </p:spPr>
        <p:txBody>
          <a:bodyPr wrap="square" rtlCol="0" anchor="ctr"/>
          <a:lstStyle/>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Rehearsal reports as PDFs</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Printable sign-in &amp; cast lists</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Calendar export to phones</a:t>
            </a:r>
            <a:endParaRPr lang="en-US" sz="1100" dirty="0"/>
          </a:p>
          <a:p>
            <a:pPr marL="152400" indent="-152400">
              <a:lnSpc>
                <a:spcPct val="140000"/>
              </a:lnSpc>
              <a:buSzPct val="100000"/>
              <a:buChar char="›"/>
            </a:pPr>
            <a:r>
              <a:rPr lang="en-US" sz="1100" dirty="0">
                <a:solidFill>
                  <a:srgbClr val="A7B6AB"/>
                </a:solidFill>
                <a:latin typeface="Arial" pitchFamily="34" charset="0"/>
                <a:ea typeface="Arial" pitchFamily="34" charset="-122"/>
                <a:cs typeface="Arial" pitchFamily="34" charset="-120"/>
              </a:rPr>
              <a:t>Email a report in one tap</a:t>
            </a:r>
            <a:endParaRPr lang="en-US" sz="1100" dirty="0"/>
          </a:p>
        </p:txBody>
      </p:sp>
      <p:sp>
        <p:nvSpPr>
          <p:cNvPr id="20" name="Shape 18"/>
          <p:cNvSpPr/>
          <p:nvPr/>
        </p:nvSpPr>
        <p:spPr>
          <a:xfrm>
            <a:off x="548640" y="4892040"/>
            <a:ext cx="2651760" cy="1143000"/>
          </a:xfrm>
          <a:prstGeom prst="roundRect">
            <a:avLst>
              <a:gd name="adj" fmla="val 6400"/>
            </a:avLst>
          </a:prstGeom>
          <a:solidFill>
            <a:srgbClr val="151B18"/>
          </a:solidFill>
          <a:ln w="12700">
            <a:solidFill>
              <a:srgbClr val="26302A"/>
            </a:solidFill>
            <a:prstDash val="solid"/>
          </a:ln>
        </p:spPr>
      </p:sp>
      <p:sp>
        <p:nvSpPr>
          <p:cNvPr id="21" name="Text 19"/>
          <p:cNvSpPr/>
          <p:nvPr/>
        </p:nvSpPr>
        <p:spPr>
          <a:xfrm>
            <a:off x="548640" y="5029200"/>
            <a:ext cx="2651760" cy="548640"/>
          </a:xfrm>
          <a:prstGeom prst="rect">
            <a:avLst/>
          </a:prstGeom>
          <a:noFill/>
          <a:ln/>
        </p:spPr>
        <p:txBody>
          <a:bodyPr wrap="square" rtlCol="0" anchor="ctr"/>
          <a:lstStyle/>
          <a:p>
            <a:pPr algn="ctr" indent="0" marL="0">
              <a:buNone/>
            </a:pPr>
            <a:r>
              <a:rPr lang="en-US" sz="3000" b="1" dirty="0">
                <a:solidFill>
                  <a:srgbClr val="2FAE6B"/>
                </a:solidFill>
                <a:latin typeface="Arial" pitchFamily="34" charset="0"/>
                <a:ea typeface="Arial" pitchFamily="34" charset="-122"/>
                <a:cs typeface="Arial" pitchFamily="34" charset="-120"/>
              </a:rPr>
              <a:t>9</a:t>
            </a:r>
            <a:endParaRPr lang="en-US" sz="3000" dirty="0"/>
          </a:p>
        </p:txBody>
      </p:sp>
      <p:sp>
        <p:nvSpPr>
          <p:cNvPr id="22" name="Text 20"/>
          <p:cNvSpPr/>
          <p:nvPr/>
        </p:nvSpPr>
        <p:spPr>
          <a:xfrm>
            <a:off x="548640" y="5596128"/>
            <a:ext cx="2651760" cy="320040"/>
          </a:xfrm>
          <a:prstGeom prst="rect">
            <a:avLst/>
          </a:prstGeom>
          <a:noFill/>
          <a:ln/>
        </p:spPr>
        <p:txBody>
          <a:bodyPr wrap="square" rtlCol="0" anchor="ctr"/>
          <a:lstStyle/>
          <a:p>
            <a:pPr algn="ctr" indent="0" marL="0">
              <a:buNone/>
            </a:pPr>
            <a:r>
              <a:rPr lang="en-US" sz="1100" dirty="0">
                <a:solidFill>
                  <a:srgbClr val="A7B6AB"/>
                </a:solidFill>
                <a:latin typeface="Arial" pitchFamily="34" charset="0"/>
                <a:ea typeface="Arial" pitchFamily="34" charset="-122"/>
                <a:cs typeface="Arial" pitchFamily="34" charset="-120"/>
              </a:rPr>
              <a:t>Modules</a:t>
            </a:r>
            <a:endParaRPr lang="en-US" sz="1100" dirty="0"/>
          </a:p>
        </p:txBody>
      </p:sp>
      <p:sp>
        <p:nvSpPr>
          <p:cNvPr id="23" name="Shape 21"/>
          <p:cNvSpPr/>
          <p:nvPr/>
        </p:nvSpPr>
        <p:spPr>
          <a:xfrm>
            <a:off x="3383280" y="4892040"/>
            <a:ext cx="2651760" cy="1143000"/>
          </a:xfrm>
          <a:prstGeom prst="roundRect">
            <a:avLst>
              <a:gd name="adj" fmla="val 6400"/>
            </a:avLst>
          </a:prstGeom>
          <a:solidFill>
            <a:srgbClr val="151B18"/>
          </a:solidFill>
          <a:ln w="12700">
            <a:solidFill>
              <a:srgbClr val="26302A"/>
            </a:solidFill>
            <a:prstDash val="solid"/>
          </a:ln>
        </p:spPr>
      </p:sp>
      <p:sp>
        <p:nvSpPr>
          <p:cNvPr id="24" name="Text 22"/>
          <p:cNvSpPr/>
          <p:nvPr/>
        </p:nvSpPr>
        <p:spPr>
          <a:xfrm>
            <a:off x="3383280" y="5029200"/>
            <a:ext cx="2651760" cy="548640"/>
          </a:xfrm>
          <a:prstGeom prst="rect">
            <a:avLst/>
          </a:prstGeom>
          <a:noFill/>
          <a:ln/>
        </p:spPr>
        <p:txBody>
          <a:bodyPr wrap="square" rtlCol="0" anchor="ctr"/>
          <a:lstStyle/>
          <a:p>
            <a:pPr algn="ctr" indent="0" marL="0">
              <a:buNone/>
            </a:pPr>
            <a:r>
              <a:rPr lang="en-US" sz="3000" b="1" dirty="0">
                <a:solidFill>
                  <a:srgbClr val="2FAE6B"/>
                </a:solidFill>
                <a:latin typeface="Arial" pitchFamily="34" charset="0"/>
                <a:ea typeface="Arial" pitchFamily="34" charset="-122"/>
                <a:cs typeface="Arial" pitchFamily="34" charset="-120"/>
              </a:rPr>
              <a:t>0</a:t>
            </a:r>
            <a:endParaRPr lang="en-US" sz="3000" dirty="0"/>
          </a:p>
        </p:txBody>
      </p:sp>
      <p:sp>
        <p:nvSpPr>
          <p:cNvPr id="25" name="Text 23"/>
          <p:cNvSpPr/>
          <p:nvPr/>
        </p:nvSpPr>
        <p:spPr>
          <a:xfrm>
            <a:off x="3383280" y="5596128"/>
            <a:ext cx="2651760" cy="320040"/>
          </a:xfrm>
          <a:prstGeom prst="rect">
            <a:avLst/>
          </a:prstGeom>
          <a:noFill/>
          <a:ln/>
        </p:spPr>
        <p:txBody>
          <a:bodyPr wrap="square" rtlCol="0" anchor="ctr"/>
          <a:lstStyle/>
          <a:p>
            <a:pPr algn="ctr" indent="0" marL="0">
              <a:buNone/>
            </a:pPr>
            <a:r>
              <a:rPr lang="en-US" sz="1100" dirty="0">
                <a:solidFill>
                  <a:srgbClr val="A7B6AB"/>
                </a:solidFill>
                <a:latin typeface="Arial" pitchFamily="34" charset="0"/>
                <a:ea typeface="Arial" pitchFamily="34" charset="-122"/>
                <a:cs typeface="Arial" pitchFamily="34" charset="-120"/>
              </a:rPr>
              <a:t>Logins</a:t>
            </a:r>
            <a:endParaRPr lang="en-US" sz="1100" dirty="0"/>
          </a:p>
        </p:txBody>
      </p:sp>
      <p:sp>
        <p:nvSpPr>
          <p:cNvPr id="26" name="Shape 24"/>
          <p:cNvSpPr/>
          <p:nvPr/>
        </p:nvSpPr>
        <p:spPr>
          <a:xfrm>
            <a:off x="6217920" y="4892040"/>
            <a:ext cx="2651760" cy="1143000"/>
          </a:xfrm>
          <a:prstGeom prst="roundRect">
            <a:avLst>
              <a:gd name="adj" fmla="val 6400"/>
            </a:avLst>
          </a:prstGeom>
          <a:solidFill>
            <a:srgbClr val="151B18"/>
          </a:solidFill>
          <a:ln w="12700">
            <a:solidFill>
              <a:srgbClr val="26302A"/>
            </a:solidFill>
            <a:prstDash val="solid"/>
          </a:ln>
        </p:spPr>
      </p:sp>
      <p:sp>
        <p:nvSpPr>
          <p:cNvPr id="27" name="Text 25"/>
          <p:cNvSpPr/>
          <p:nvPr/>
        </p:nvSpPr>
        <p:spPr>
          <a:xfrm>
            <a:off x="6217920" y="5029200"/>
            <a:ext cx="2651760" cy="548640"/>
          </a:xfrm>
          <a:prstGeom prst="rect">
            <a:avLst/>
          </a:prstGeom>
          <a:noFill/>
          <a:ln/>
        </p:spPr>
        <p:txBody>
          <a:bodyPr wrap="square" rtlCol="0" anchor="ctr"/>
          <a:lstStyle/>
          <a:p>
            <a:pPr algn="ctr" indent="0" marL="0">
              <a:buNone/>
            </a:pPr>
            <a:r>
              <a:rPr lang="en-US" sz="3000" b="1" dirty="0">
                <a:solidFill>
                  <a:srgbClr val="2FAE6B"/>
                </a:solidFill>
                <a:latin typeface="Arial" pitchFamily="34" charset="0"/>
                <a:ea typeface="Arial" pitchFamily="34" charset="-122"/>
                <a:cs typeface="Arial" pitchFamily="34" charset="-120"/>
              </a:rPr>
              <a:t>100%</a:t>
            </a:r>
            <a:endParaRPr lang="en-US" sz="3000" dirty="0"/>
          </a:p>
        </p:txBody>
      </p:sp>
      <p:sp>
        <p:nvSpPr>
          <p:cNvPr id="28" name="Text 26"/>
          <p:cNvSpPr/>
          <p:nvPr/>
        </p:nvSpPr>
        <p:spPr>
          <a:xfrm>
            <a:off x="6217920" y="5596128"/>
            <a:ext cx="2651760" cy="320040"/>
          </a:xfrm>
          <a:prstGeom prst="rect">
            <a:avLst/>
          </a:prstGeom>
          <a:noFill/>
          <a:ln/>
        </p:spPr>
        <p:txBody>
          <a:bodyPr wrap="square" rtlCol="0" anchor="ctr"/>
          <a:lstStyle/>
          <a:p>
            <a:pPr algn="ctr" indent="0" marL="0">
              <a:buNone/>
            </a:pPr>
            <a:r>
              <a:rPr lang="en-US" sz="1100" dirty="0">
                <a:solidFill>
                  <a:srgbClr val="A7B6AB"/>
                </a:solidFill>
                <a:latin typeface="Arial" pitchFamily="34" charset="0"/>
                <a:ea typeface="Arial" pitchFamily="34" charset="-122"/>
                <a:cs typeface="Arial" pitchFamily="34" charset="-120"/>
              </a:rPr>
              <a:t>On-device</a:t>
            </a:r>
            <a:endParaRPr lang="en-US" sz="1100" dirty="0"/>
          </a:p>
        </p:txBody>
      </p:sp>
      <p:sp>
        <p:nvSpPr>
          <p:cNvPr id="29" name="Shape 27"/>
          <p:cNvSpPr/>
          <p:nvPr/>
        </p:nvSpPr>
        <p:spPr>
          <a:xfrm>
            <a:off x="9052560" y="4892040"/>
            <a:ext cx="2651760" cy="1143000"/>
          </a:xfrm>
          <a:prstGeom prst="roundRect">
            <a:avLst>
              <a:gd name="adj" fmla="val 6400"/>
            </a:avLst>
          </a:prstGeom>
          <a:solidFill>
            <a:srgbClr val="151B18"/>
          </a:solidFill>
          <a:ln w="12700">
            <a:solidFill>
              <a:srgbClr val="26302A"/>
            </a:solidFill>
            <a:prstDash val="solid"/>
          </a:ln>
        </p:spPr>
      </p:sp>
      <p:sp>
        <p:nvSpPr>
          <p:cNvPr id="30" name="Text 28"/>
          <p:cNvSpPr/>
          <p:nvPr/>
        </p:nvSpPr>
        <p:spPr>
          <a:xfrm>
            <a:off x="9052560" y="5029200"/>
            <a:ext cx="2651760" cy="548640"/>
          </a:xfrm>
          <a:prstGeom prst="rect">
            <a:avLst/>
          </a:prstGeom>
          <a:noFill/>
          <a:ln/>
        </p:spPr>
        <p:txBody>
          <a:bodyPr wrap="square" rtlCol="0" anchor="ctr"/>
          <a:lstStyle/>
          <a:p>
            <a:pPr algn="ctr" indent="0" marL="0">
              <a:buNone/>
            </a:pPr>
            <a:r>
              <a:rPr lang="en-US" sz="3000" b="1" dirty="0">
                <a:solidFill>
                  <a:srgbClr val="2FAE6B"/>
                </a:solidFill>
                <a:latin typeface="Arial" pitchFamily="34" charset="0"/>
                <a:ea typeface="Arial" pitchFamily="34" charset="-122"/>
                <a:cs typeface="Arial" pitchFamily="34" charset="-120"/>
              </a:rPr>
              <a:t>$0</a:t>
            </a:r>
            <a:endParaRPr lang="en-US" sz="3000" dirty="0"/>
          </a:p>
        </p:txBody>
      </p:sp>
      <p:sp>
        <p:nvSpPr>
          <p:cNvPr id="31" name="Text 29"/>
          <p:cNvSpPr/>
          <p:nvPr/>
        </p:nvSpPr>
        <p:spPr>
          <a:xfrm>
            <a:off x="9052560" y="5596128"/>
            <a:ext cx="2651760" cy="320040"/>
          </a:xfrm>
          <a:prstGeom prst="rect">
            <a:avLst/>
          </a:prstGeom>
          <a:noFill/>
          <a:ln/>
        </p:spPr>
        <p:txBody>
          <a:bodyPr wrap="square" rtlCol="0" anchor="ctr"/>
          <a:lstStyle/>
          <a:p>
            <a:pPr algn="ctr" indent="0" marL="0">
              <a:buNone/>
            </a:pPr>
            <a:r>
              <a:rPr lang="en-US" sz="1100" dirty="0">
                <a:solidFill>
                  <a:srgbClr val="A7B6AB"/>
                </a:solidFill>
                <a:latin typeface="Arial" pitchFamily="34" charset="0"/>
                <a:ea typeface="Arial" pitchFamily="34" charset="-122"/>
                <a:cs typeface="Arial" pitchFamily="34" charset="-120"/>
              </a:rPr>
              <a:t>To start</a:t>
            </a:r>
            <a:endParaRPr lang="en-US" sz="1100" dirty="0"/>
          </a:p>
        </p:txBody>
      </p:sp>
      <p:sp>
        <p:nvSpPr>
          <p:cNvPr id="32" name="Text 30"/>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384048"/>
            <a:ext cx="9601200" cy="640080"/>
          </a:xfrm>
          <a:prstGeom prst="rect">
            <a:avLst/>
          </a:prstGeom>
          <a:noFill/>
          <a:ln/>
        </p:spPr>
        <p:txBody>
          <a:bodyPr wrap="square" rtlCol="0" anchor="ctr"/>
          <a:lstStyle/>
          <a:p>
            <a:pPr indent="0" marL="0">
              <a:buNone/>
            </a:pPr>
            <a:r>
              <a:rPr lang="en-US" sz="2600" b="1" dirty="0">
                <a:solidFill>
                  <a:srgbClr val="F1EFE7"/>
                </a:solidFill>
                <a:latin typeface="Arial" pitchFamily="34" charset="0"/>
                <a:ea typeface="Arial" pitchFamily="34" charset="-122"/>
                <a:cs typeface="Arial" pitchFamily="34" charset="-120"/>
              </a:rPr>
              <a:t>Why Standby, Not Five Other Tools</a:t>
            </a:r>
            <a:endParaRPr lang="en-US" sz="2600" dirty="0"/>
          </a:p>
        </p:txBody>
      </p:sp>
      <p:sp>
        <p:nvSpPr>
          <p:cNvPr id="3" name="Text 1"/>
          <p:cNvSpPr/>
          <p:nvPr/>
        </p:nvSpPr>
        <p:spPr>
          <a:xfrm>
            <a:off x="10515600" y="384048"/>
            <a:ext cx="1097280" cy="640080"/>
          </a:xfrm>
          <a:prstGeom prst="rect">
            <a:avLst/>
          </a:prstGeom>
          <a:noFill/>
          <a:ln/>
        </p:spPr>
        <p:txBody>
          <a:bodyPr wrap="square" rtlCol="0" anchor="ctr"/>
          <a:lstStyle/>
          <a:p>
            <a:pPr algn="r" indent="0" marL="0">
              <a:buNone/>
            </a:pPr>
            <a:r>
              <a:rPr lang="en-US" sz="2200" b="1" dirty="0">
                <a:solidFill>
                  <a:srgbClr val="26302A"/>
                </a:solidFill>
                <a:latin typeface="Arial" pitchFamily="34" charset="0"/>
                <a:ea typeface="Arial" pitchFamily="34" charset="-122"/>
                <a:cs typeface="Arial" pitchFamily="34" charset="-120"/>
              </a:rPr>
              <a:t>02</a:t>
            </a:r>
            <a:endParaRPr lang="en-US" sz="2200" dirty="0"/>
          </a:p>
        </p:txBody>
      </p:sp>
      <p:sp>
        <p:nvSpPr>
          <p:cNvPr id="4" name="Shape 2"/>
          <p:cNvSpPr/>
          <p:nvPr/>
        </p:nvSpPr>
        <p:spPr>
          <a:xfrm>
            <a:off x="548640" y="1133856"/>
            <a:ext cx="11091672" cy="0"/>
          </a:xfrm>
          <a:prstGeom prst="line">
            <a:avLst/>
          </a:prstGeom>
          <a:noFill/>
          <a:ln w="25400">
            <a:solidFill>
              <a:srgbClr val="2FAE6B"/>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291840"/>
                <a:gridCol w="1947672"/>
                <a:gridCol w="1947672"/>
                <a:gridCol w="1947672"/>
                <a:gridCol w="1956816"/>
              </a:tblGrid>
              <a:tr h="548640">
                <a:tc>
                  <a:txBody>
                    <a:bodyPr/>
                    <a:lstStyle/>
                    <a:p>
                      <a:pPr algn="l" indent="0" marL="0">
                        <a:buNone/>
                      </a:pPr>
                      <a:r>
                        <a:rPr lang="en-US" sz="1100" b="1" dirty="0">
                          <a:solidFill>
                            <a:srgbClr val="6F7D73"/>
                          </a:solidFill>
                          <a:latin typeface="Arial" pitchFamily="34" charset="0"/>
                          <a:ea typeface="Arial" pitchFamily="34" charset="-122"/>
                          <a:cs typeface="Arial" pitchFamily="34" charset="-120"/>
                        </a:rPr>
                        <a:t>Capability</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51B18"/>
                    </a:solidFill>
                  </a:tcPr>
                </a:tc>
                <a:tc>
                  <a:txBody>
                    <a:bodyPr/>
                    <a:lstStyle/>
                    <a:p>
                      <a:pPr algn="ctr" indent="0" marL="0">
                        <a:buNone/>
                      </a:pPr>
                      <a:r>
                        <a:rPr lang="en-US" sz="1200" b="1" dirty="0">
                          <a:solidFill>
                            <a:srgbClr val="2FAE6B"/>
                          </a:solidFill>
                          <a:latin typeface="Arial" pitchFamily="34" charset="0"/>
                          <a:ea typeface="Arial" pitchFamily="34" charset="-122"/>
                          <a:cs typeface="Arial" pitchFamily="34" charset="-120"/>
                        </a:rPr>
                        <a:t>Standby</a:t>
                      </a:r>
                      <a:endParaRPr lang="en-US" sz="12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3251C"/>
                    </a:solidFill>
                  </a:tcPr>
                </a:tc>
                <a:tc>
                  <a:txBody>
                    <a:bodyPr/>
                    <a:lstStyle/>
                    <a:p>
                      <a:pPr algn="ctr" indent="0" marL="0">
                        <a:buNone/>
                      </a:pPr>
                      <a:r>
                        <a:rPr lang="en-US" sz="1100" b="1" dirty="0">
                          <a:solidFill>
                            <a:srgbClr val="6F7D73"/>
                          </a:solidFill>
                          <a:latin typeface="Arial" pitchFamily="34" charset="0"/>
                          <a:ea typeface="Arial" pitchFamily="34" charset="-122"/>
                          <a:cs typeface="Arial" pitchFamily="34" charset="-120"/>
                        </a:rPr>
                        <a:t>Spreadsheets &amp; docs</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51B18"/>
                    </a:solidFill>
                  </a:tcPr>
                </a:tc>
                <a:tc>
                  <a:txBody>
                    <a:bodyPr/>
                    <a:lstStyle/>
                    <a:p>
                      <a:pPr algn="ctr" indent="0" marL="0">
                        <a:buNone/>
                      </a:pPr>
                      <a:r>
                        <a:rPr lang="en-US" sz="1100" b="1" dirty="0">
                          <a:solidFill>
                            <a:srgbClr val="6F7D73"/>
                          </a:solidFill>
                          <a:latin typeface="Arial" pitchFamily="34" charset="0"/>
                          <a:ea typeface="Arial" pitchFamily="34" charset="-122"/>
                          <a:cs typeface="Arial" pitchFamily="34" charset="-120"/>
                        </a:rPr>
                        <a:t>Generic PM apps</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51B18"/>
                    </a:solidFill>
                  </a:tcPr>
                </a:tc>
                <a:tc>
                  <a:txBody>
                    <a:bodyPr/>
                    <a:lstStyle/>
                    <a:p>
                      <a:pPr algn="ctr" indent="0" marL="0">
                        <a:buNone/>
                      </a:pPr>
                      <a:r>
                        <a:rPr lang="en-US" sz="1100" b="1" dirty="0">
                          <a:solidFill>
                            <a:srgbClr val="6F7D73"/>
                          </a:solidFill>
                          <a:latin typeface="Arial" pitchFamily="34" charset="0"/>
                          <a:ea typeface="Arial" pitchFamily="34" charset="-122"/>
                          <a:cs typeface="Arial" pitchFamily="34" charset="-120"/>
                        </a:rPr>
                        <a:t>SaaS platforms</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51B18"/>
                    </a:solidFill>
                  </a:tcPr>
                </a:tc>
              </a:tr>
              <a:tr h="548640">
                <a:tc>
                  <a:txBody>
                    <a:bodyPr/>
                    <a:lstStyle/>
                    <a:p>
                      <a:pPr algn="l" indent="0" marL="0">
                        <a:buNone/>
                      </a:pPr>
                      <a:r>
                        <a:rPr lang="en-US" sz="1100" b="1" dirty="0">
                          <a:solidFill>
                            <a:srgbClr val="F1EFE7"/>
                          </a:solidFill>
                          <a:latin typeface="Arial" pitchFamily="34" charset="0"/>
                          <a:ea typeface="Arial" pitchFamily="34" charset="-122"/>
                          <a:cs typeface="Arial" pitchFamily="34" charset="-120"/>
                        </a:rPr>
                        <a:t>Everything in one place</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400" b="1" dirty="0">
                          <a:solidFill>
                            <a:srgbClr val="2FAE6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3251C"/>
                    </a:solidFill>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b="1" dirty="0">
                          <a:solidFill>
                            <a:srgbClr val="D9A44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b="1" dirty="0">
                          <a:solidFill>
                            <a:srgbClr val="D9A44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r>
              <a:tr h="548640">
                <a:tc>
                  <a:txBody>
                    <a:bodyPr/>
                    <a:lstStyle/>
                    <a:p>
                      <a:pPr algn="l" indent="0" marL="0">
                        <a:buNone/>
                      </a:pPr>
                      <a:r>
                        <a:rPr lang="en-US" sz="1100" b="1" dirty="0">
                          <a:solidFill>
                            <a:srgbClr val="F1EFE7"/>
                          </a:solidFill>
                          <a:latin typeface="Arial" pitchFamily="34" charset="0"/>
                          <a:ea typeface="Arial" pitchFamily="34" charset="-122"/>
                          <a:cs typeface="Arial" pitchFamily="34" charset="-120"/>
                        </a:rPr>
                        <a:t>Works fully offline</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400" b="1" dirty="0">
                          <a:solidFill>
                            <a:srgbClr val="2FAE6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3251C"/>
                    </a:solidFill>
                  </a:tcPr>
                </a:tc>
                <a:tc>
                  <a:txBody>
                    <a:bodyPr/>
                    <a:lstStyle/>
                    <a:p>
                      <a:pPr algn="ctr" indent="0" marL="0">
                        <a:buNone/>
                      </a:pPr>
                      <a:r>
                        <a:rPr lang="en-US" sz="1300" b="1" dirty="0">
                          <a:solidFill>
                            <a:srgbClr val="D9A44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r>
              <a:tr h="548640">
                <a:tc>
                  <a:txBody>
                    <a:bodyPr/>
                    <a:lstStyle/>
                    <a:p>
                      <a:pPr algn="l" indent="0" marL="0">
                        <a:buNone/>
                      </a:pPr>
                      <a:r>
                        <a:rPr lang="en-US" sz="1100" b="1" dirty="0">
                          <a:solidFill>
                            <a:srgbClr val="F1EFE7"/>
                          </a:solidFill>
                          <a:latin typeface="Arial" pitchFamily="34" charset="0"/>
                          <a:ea typeface="Arial" pitchFamily="34" charset="-122"/>
                          <a:cs typeface="Arial" pitchFamily="34" charset="-120"/>
                        </a:rPr>
                        <a:t>No account or login</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400" b="1" dirty="0">
                          <a:solidFill>
                            <a:srgbClr val="2FAE6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3251C"/>
                    </a:solidFill>
                  </a:tcPr>
                </a:tc>
                <a:tc>
                  <a:txBody>
                    <a:bodyPr/>
                    <a:lstStyle/>
                    <a:p>
                      <a:pPr algn="ctr" indent="0" marL="0">
                        <a:buNone/>
                      </a:pPr>
                      <a:r>
                        <a:rPr lang="en-US" sz="1300" b="1" dirty="0">
                          <a:solidFill>
                            <a:srgbClr val="D9A44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r>
              <a:tr h="548640">
                <a:tc>
                  <a:txBody>
                    <a:bodyPr/>
                    <a:lstStyle/>
                    <a:p>
                      <a:pPr algn="l" indent="0" marL="0">
                        <a:buNone/>
                      </a:pPr>
                      <a:r>
                        <a:rPr lang="en-US" sz="1100" b="1" dirty="0">
                          <a:solidFill>
                            <a:srgbClr val="F1EFE7"/>
                          </a:solidFill>
                          <a:latin typeface="Arial" pitchFamily="34" charset="0"/>
                          <a:ea typeface="Arial" pitchFamily="34" charset="-122"/>
                          <a:cs typeface="Arial" pitchFamily="34" charset="-120"/>
                        </a:rPr>
                        <a:t>No subscription fee</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400" b="1" dirty="0">
                          <a:solidFill>
                            <a:srgbClr val="2FAE6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3251C"/>
                    </a:solidFill>
                  </a:tcPr>
                </a:tc>
                <a:tc>
                  <a:txBody>
                    <a:bodyPr/>
                    <a:lstStyle/>
                    <a:p>
                      <a:pPr algn="ctr" indent="0" marL="0">
                        <a:buNone/>
                      </a:pPr>
                      <a:r>
                        <a:rPr lang="en-US" sz="1300" b="1" dirty="0">
                          <a:solidFill>
                            <a:srgbClr val="2FAE6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b="1" dirty="0">
                          <a:solidFill>
                            <a:srgbClr val="D9A44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r>
              <a:tr h="548640">
                <a:tc>
                  <a:txBody>
                    <a:bodyPr/>
                    <a:lstStyle/>
                    <a:p>
                      <a:pPr algn="l" indent="0" marL="0">
                        <a:buNone/>
                      </a:pPr>
                      <a:r>
                        <a:rPr lang="en-US" sz="1100" b="1" dirty="0">
                          <a:solidFill>
                            <a:srgbClr val="F1EFE7"/>
                          </a:solidFill>
                          <a:latin typeface="Arial" pitchFamily="34" charset="0"/>
                          <a:ea typeface="Arial" pitchFamily="34" charset="-122"/>
                          <a:cs typeface="Arial" pitchFamily="34" charset="-120"/>
                        </a:rPr>
                        <a:t>Built for theater work</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400" b="1" dirty="0">
                          <a:solidFill>
                            <a:srgbClr val="2FAE6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3251C"/>
                    </a:solidFill>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b="1" dirty="0">
                          <a:solidFill>
                            <a:srgbClr val="D9A44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r>
              <a:tr h="548640">
                <a:tc>
                  <a:txBody>
                    <a:bodyPr/>
                    <a:lstStyle/>
                    <a:p>
                      <a:pPr algn="l" indent="0" marL="0">
                        <a:buNone/>
                      </a:pPr>
                      <a:r>
                        <a:rPr lang="en-US" sz="1100" b="1" dirty="0">
                          <a:solidFill>
                            <a:srgbClr val="F1EFE7"/>
                          </a:solidFill>
                          <a:latin typeface="Arial" pitchFamily="34" charset="0"/>
                          <a:ea typeface="Arial" pitchFamily="34" charset="-122"/>
                          <a:cs typeface="Arial" pitchFamily="34" charset="-120"/>
                        </a:rPr>
                        <a:t>One link, any device</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400" b="1" dirty="0">
                          <a:solidFill>
                            <a:srgbClr val="2FAE6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3251C"/>
                    </a:solidFill>
                  </a:tcPr>
                </a:tc>
                <a:tc>
                  <a:txBody>
                    <a:bodyPr/>
                    <a:lstStyle/>
                    <a:p>
                      <a:pPr algn="ctr" indent="0" marL="0">
                        <a:buNone/>
                      </a:pPr>
                      <a:r>
                        <a:rPr lang="en-US" sz="1300" b="1" dirty="0">
                          <a:solidFill>
                            <a:srgbClr val="D9A441"/>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b="1" dirty="0">
                          <a:solidFill>
                            <a:srgbClr val="2FAE6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b="1" dirty="0">
                          <a:solidFill>
                            <a:srgbClr val="2FAE6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r>
              <a:tr h="548640">
                <a:tc>
                  <a:txBody>
                    <a:bodyPr/>
                    <a:lstStyle/>
                    <a:p>
                      <a:pPr algn="l" indent="0" marL="0">
                        <a:buNone/>
                      </a:pPr>
                      <a:r>
                        <a:rPr lang="en-US" sz="1100" b="1" dirty="0">
                          <a:solidFill>
                            <a:srgbClr val="F1EFE7"/>
                          </a:solidFill>
                          <a:latin typeface="Arial" pitchFamily="34" charset="0"/>
                          <a:ea typeface="Arial" pitchFamily="34" charset="-122"/>
                          <a:cs typeface="Arial" pitchFamily="34" charset="-120"/>
                        </a:rPr>
                        <a:t>Data stays on your device</a:t>
                      </a:r>
                      <a:endParaRPr lang="en-US" sz="11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400" b="1" dirty="0">
                          <a:solidFill>
                            <a:srgbClr val="2FAE6B"/>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solidFill>
                      <a:srgbClr val="13251C"/>
                    </a:solidFill>
                  </a:tcPr>
                </a:tc>
                <a:tc>
                  <a:txBody>
                    <a:bodyPr/>
                    <a:lstStyle/>
                    <a:p>
                      <a:pPr algn="ctr" indent="0" marL="0">
                        <a:buNone/>
                      </a:pPr>
                      <a:r>
                        <a:rPr lang="en-US" sz="1300" b="1" dirty="0">
                          <a:solidFill>
                            <a:srgbClr val="2FAE6B"/>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c>
                  <a:txBody>
                    <a:bodyPr/>
                    <a:lstStyle/>
                    <a:p>
                      <a:pPr algn="ctr" indent="0" marL="0">
                        <a:buNone/>
                      </a:pPr>
                      <a:r>
                        <a:rPr lang="en-US" sz="1300" dirty="0">
                          <a:solidFill>
                            <a:srgbClr val="6F7D73"/>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6350" cap="flat" cmpd="sng" algn="ctr">
                      <a:solidFill>
                        <a:srgbClr val="26302A"/>
                      </a:solidFill>
                      <a:prstDash val="solid"/>
                      <a:round/>
                      <a:headEnd type="none" w="med" len="med"/>
                      <a:tailEnd type="none" w="med" len="med"/>
                    </a:lnL>
                    <a:lnR w="6350" cap="flat" cmpd="sng" algn="ctr">
                      <a:solidFill>
                        <a:srgbClr val="26302A"/>
                      </a:solidFill>
                      <a:prstDash val="solid"/>
                      <a:round/>
                      <a:headEnd type="none" w="med" len="med"/>
                      <a:tailEnd type="none" w="med" len="med"/>
                    </a:lnR>
                    <a:lnT w="6350" cap="flat" cmpd="sng" algn="ctr">
                      <a:solidFill>
                        <a:srgbClr val="26302A"/>
                      </a:solidFill>
                      <a:prstDash val="solid"/>
                      <a:round/>
                      <a:headEnd type="none" w="med" len="med"/>
                      <a:tailEnd type="none" w="med" len="med"/>
                    </a:lnT>
                    <a:lnB w="6350" cap="flat" cmpd="sng" algn="ctr">
                      <a:solidFill>
                        <a:srgbClr val="26302A"/>
                      </a:solidFill>
                      <a:prstDash val="solid"/>
                      <a:round/>
                      <a:headEnd type="none" w="med" len="med"/>
                      <a:tailEnd type="none" w="med" len="med"/>
                    </a:lnB>
                  </a:tcPr>
                </a:tc>
              </a:tr>
            </a:tbl>
          </a:graphicData>
        </a:graphic>
      </p:graphicFrame>
      <p:sp>
        <p:nvSpPr>
          <p:cNvPr id="6" name="Text 3"/>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384048"/>
            <a:ext cx="9601200" cy="640080"/>
          </a:xfrm>
          <a:prstGeom prst="rect">
            <a:avLst/>
          </a:prstGeom>
          <a:noFill/>
          <a:ln/>
        </p:spPr>
        <p:txBody>
          <a:bodyPr wrap="square" rtlCol="0" anchor="ctr"/>
          <a:lstStyle/>
          <a:p>
            <a:pPr indent="0" marL="0">
              <a:buNone/>
            </a:pPr>
            <a:r>
              <a:rPr lang="en-US" sz="2600" b="1" dirty="0">
                <a:solidFill>
                  <a:srgbClr val="F1EFE7"/>
                </a:solidFill>
                <a:latin typeface="Arial" pitchFamily="34" charset="0"/>
                <a:ea typeface="Arial" pitchFamily="34" charset="-122"/>
                <a:cs typeface="Arial" pitchFamily="34" charset="-120"/>
              </a:rPr>
              <a:t>The Real-World Win</a:t>
            </a:r>
            <a:endParaRPr lang="en-US" sz="2600" dirty="0"/>
          </a:p>
        </p:txBody>
      </p:sp>
      <p:sp>
        <p:nvSpPr>
          <p:cNvPr id="3" name="Text 1"/>
          <p:cNvSpPr/>
          <p:nvPr/>
        </p:nvSpPr>
        <p:spPr>
          <a:xfrm>
            <a:off x="10515600" y="384048"/>
            <a:ext cx="1097280" cy="640080"/>
          </a:xfrm>
          <a:prstGeom prst="rect">
            <a:avLst/>
          </a:prstGeom>
          <a:noFill/>
          <a:ln/>
        </p:spPr>
        <p:txBody>
          <a:bodyPr wrap="square" rtlCol="0" anchor="ctr"/>
          <a:lstStyle/>
          <a:p>
            <a:pPr algn="r" indent="0" marL="0">
              <a:buNone/>
            </a:pPr>
            <a:r>
              <a:rPr lang="en-US" sz="2200" b="1" dirty="0">
                <a:solidFill>
                  <a:srgbClr val="26302A"/>
                </a:solidFill>
                <a:latin typeface="Arial" pitchFamily="34" charset="0"/>
                <a:ea typeface="Arial" pitchFamily="34" charset="-122"/>
                <a:cs typeface="Arial" pitchFamily="34" charset="-120"/>
              </a:rPr>
              <a:t>03</a:t>
            </a:r>
            <a:endParaRPr lang="en-US" sz="2200" dirty="0"/>
          </a:p>
        </p:txBody>
      </p:sp>
      <p:sp>
        <p:nvSpPr>
          <p:cNvPr id="4" name="Shape 2"/>
          <p:cNvSpPr/>
          <p:nvPr/>
        </p:nvSpPr>
        <p:spPr>
          <a:xfrm>
            <a:off x="548640" y="1133856"/>
            <a:ext cx="11091672" cy="0"/>
          </a:xfrm>
          <a:prstGeom prst="line">
            <a:avLst/>
          </a:prstGeom>
          <a:noFill/>
          <a:ln w="25400">
            <a:solidFill>
              <a:srgbClr val="2FAE6B"/>
            </a:solidFill>
            <a:prstDash val="solid"/>
          </a:ln>
        </p:spPr>
      </p:sp>
      <p:sp>
        <p:nvSpPr>
          <p:cNvPr id="5" name="Shape 3"/>
          <p:cNvSpPr/>
          <p:nvPr/>
        </p:nvSpPr>
        <p:spPr>
          <a:xfrm>
            <a:off x="548640" y="1417320"/>
            <a:ext cx="5449824" cy="2148840"/>
          </a:xfrm>
          <a:prstGeom prst="roundRect">
            <a:avLst>
              <a:gd name="adj" fmla="val 4255"/>
            </a:avLst>
          </a:prstGeom>
          <a:solidFill>
            <a:srgbClr val="151B18"/>
          </a:solidFill>
          <a:ln w="12700">
            <a:solidFill>
              <a:srgbClr val="26302A"/>
            </a:solidFill>
            <a:prstDash val="solid"/>
          </a:ln>
        </p:spPr>
      </p:sp>
      <p:sp>
        <p:nvSpPr>
          <p:cNvPr id="6" name="Text 4"/>
          <p:cNvSpPr/>
          <p:nvPr/>
        </p:nvSpPr>
        <p:spPr>
          <a:xfrm>
            <a:off x="822960" y="1618488"/>
            <a:ext cx="4937760" cy="457200"/>
          </a:xfrm>
          <a:prstGeom prst="rect">
            <a:avLst/>
          </a:prstGeom>
          <a:noFill/>
          <a:ln/>
        </p:spPr>
        <p:txBody>
          <a:bodyPr wrap="square" rtlCol="0" anchor="ctr"/>
          <a:lstStyle/>
          <a:p>
            <a:pPr indent="0" marL="0">
              <a:buNone/>
            </a:pPr>
            <a:r>
              <a:rPr lang="en-US" sz="1500" b="1" dirty="0">
                <a:solidFill>
                  <a:srgbClr val="2FAE6B"/>
                </a:solidFill>
                <a:latin typeface="Arial" pitchFamily="34" charset="0"/>
                <a:ea typeface="Arial" pitchFamily="34" charset="-122"/>
                <a:cs typeface="Arial" pitchFamily="34" charset="-120"/>
              </a:rPr>
              <a:t>The wifi is down during tech</a:t>
            </a:r>
            <a:endParaRPr lang="en-US" sz="1500" dirty="0"/>
          </a:p>
        </p:txBody>
      </p:sp>
      <p:sp>
        <p:nvSpPr>
          <p:cNvPr id="7" name="Text 5"/>
          <p:cNvSpPr/>
          <p:nvPr/>
        </p:nvSpPr>
        <p:spPr>
          <a:xfrm>
            <a:off x="822960" y="2130552"/>
            <a:ext cx="4937760" cy="914400"/>
          </a:xfrm>
          <a:prstGeom prst="rect">
            <a:avLst/>
          </a:prstGeom>
          <a:noFill/>
          <a:ln/>
        </p:spPr>
        <p:txBody>
          <a:bodyPr wrap="square" rtlCol="0" anchor="ctr"/>
          <a:lstStyle/>
          <a:p>
            <a:pPr indent="0" marL="0">
              <a:lnSpc>
                <a:spcPct val="135000"/>
              </a:lnSpc>
              <a:buNone/>
            </a:pPr>
            <a:r>
              <a:rPr lang="en-US" sz="1200" dirty="0">
                <a:solidFill>
                  <a:srgbClr val="A7B6AB"/>
                </a:solidFill>
                <a:latin typeface="Arial" pitchFamily="34" charset="0"/>
                <a:ea typeface="Arial" pitchFamily="34" charset="-122"/>
                <a:cs typeface="Arial" pitchFamily="34" charset="-120"/>
              </a:rPr>
              <a:t>Because the whole prompt book lives on the iPad, the cues, contact sheet, and schedule are all still right there.</a:t>
            </a:r>
            <a:endParaRPr lang="en-US" sz="1200" dirty="0"/>
          </a:p>
        </p:txBody>
      </p:sp>
      <p:sp>
        <p:nvSpPr>
          <p:cNvPr id="8" name="Text 6"/>
          <p:cNvSpPr/>
          <p:nvPr/>
        </p:nvSpPr>
        <p:spPr>
          <a:xfrm>
            <a:off x="822960" y="3108960"/>
            <a:ext cx="4572000" cy="320040"/>
          </a:xfrm>
          <a:prstGeom prst="rect">
            <a:avLst/>
          </a:prstGeom>
          <a:noFill/>
          <a:ln/>
        </p:spPr>
        <p:txBody>
          <a:bodyPr wrap="square" rtlCol="0" anchor="ctr"/>
          <a:lstStyle/>
          <a:p>
            <a:pPr indent="0" marL="0">
              <a:buNone/>
            </a:pPr>
            <a:r>
              <a:rPr lang="en-US" sz="1100" b="1" dirty="0">
                <a:solidFill>
                  <a:srgbClr val="2FAE6B"/>
                </a:solidFill>
                <a:latin typeface="Arial" pitchFamily="34" charset="0"/>
                <a:ea typeface="Arial" pitchFamily="34" charset="-122"/>
                <a:cs typeface="Arial" pitchFamily="34" charset="-120"/>
              </a:rPr>
              <a:t>✓ Nothing skips a beat</a:t>
            </a:r>
            <a:endParaRPr lang="en-US" sz="1100" dirty="0"/>
          </a:p>
        </p:txBody>
      </p:sp>
      <p:sp>
        <p:nvSpPr>
          <p:cNvPr id="9" name="Shape 7"/>
          <p:cNvSpPr/>
          <p:nvPr/>
        </p:nvSpPr>
        <p:spPr>
          <a:xfrm>
            <a:off x="6181344" y="1417320"/>
            <a:ext cx="5449824" cy="2148840"/>
          </a:xfrm>
          <a:prstGeom prst="roundRect">
            <a:avLst>
              <a:gd name="adj" fmla="val 4255"/>
            </a:avLst>
          </a:prstGeom>
          <a:solidFill>
            <a:srgbClr val="151B18"/>
          </a:solidFill>
          <a:ln w="12700">
            <a:solidFill>
              <a:srgbClr val="26302A"/>
            </a:solidFill>
            <a:prstDash val="solid"/>
          </a:ln>
        </p:spPr>
      </p:sp>
      <p:sp>
        <p:nvSpPr>
          <p:cNvPr id="10" name="Text 8"/>
          <p:cNvSpPr/>
          <p:nvPr/>
        </p:nvSpPr>
        <p:spPr>
          <a:xfrm>
            <a:off x="6455664" y="1618488"/>
            <a:ext cx="4937760" cy="457200"/>
          </a:xfrm>
          <a:prstGeom prst="rect">
            <a:avLst/>
          </a:prstGeom>
          <a:noFill/>
          <a:ln/>
        </p:spPr>
        <p:txBody>
          <a:bodyPr wrap="square" rtlCol="0" anchor="ctr"/>
          <a:lstStyle/>
          <a:p>
            <a:pPr indent="0" marL="0">
              <a:buNone/>
            </a:pPr>
            <a:r>
              <a:rPr lang="en-US" sz="1500" b="1" dirty="0">
                <a:solidFill>
                  <a:srgbClr val="2FAE6B"/>
                </a:solidFill>
                <a:latin typeface="Arial" pitchFamily="34" charset="0"/>
                <a:ea typeface="Arial" pitchFamily="34" charset="-122"/>
                <a:cs typeface="Arial" pitchFamily="34" charset="-120"/>
              </a:rPr>
              <a:t>An actor is running late at 6:25</a:t>
            </a:r>
            <a:endParaRPr lang="en-US" sz="1500" dirty="0"/>
          </a:p>
        </p:txBody>
      </p:sp>
      <p:sp>
        <p:nvSpPr>
          <p:cNvPr id="11" name="Text 9"/>
          <p:cNvSpPr/>
          <p:nvPr/>
        </p:nvSpPr>
        <p:spPr>
          <a:xfrm>
            <a:off x="6455664" y="2130552"/>
            <a:ext cx="4937760" cy="914400"/>
          </a:xfrm>
          <a:prstGeom prst="rect">
            <a:avLst/>
          </a:prstGeom>
          <a:noFill/>
          <a:ln/>
        </p:spPr>
        <p:txBody>
          <a:bodyPr wrap="square" rtlCol="0" anchor="ctr"/>
          <a:lstStyle/>
          <a:p>
            <a:pPr indent="0" marL="0">
              <a:lnSpc>
                <a:spcPct val="135000"/>
              </a:lnSpc>
              <a:buNone/>
            </a:pPr>
            <a:r>
              <a:rPr lang="en-US" sz="1200" dirty="0">
                <a:solidFill>
                  <a:srgbClr val="A7B6AB"/>
                </a:solidFill>
                <a:latin typeface="Arial" pitchFamily="34" charset="0"/>
                <a:ea typeface="Arial" pitchFamily="34" charset="-122"/>
                <a:cs typeface="Arial" pitchFamily="34" charset="-120"/>
              </a:rPr>
              <a:t>Mark them Late once in Attendance. It already flows onto the sign-in sheet and into tonight’s report.</a:t>
            </a:r>
            <a:endParaRPr lang="en-US" sz="1200" dirty="0"/>
          </a:p>
        </p:txBody>
      </p:sp>
      <p:sp>
        <p:nvSpPr>
          <p:cNvPr id="12" name="Text 10"/>
          <p:cNvSpPr/>
          <p:nvPr/>
        </p:nvSpPr>
        <p:spPr>
          <a:xfrm>
            <a:off x="6455664" y="3108960"/>
            <a:ext cx="4572000" cy="320040"/>
          </a:xfrm>
          <a:prstGeom prst="rect">
            <a:avLst/>
          </a:prstGeom>
          <a:noFill/>
          <a:ln/>
        </p:spPr>
        <p:txBody>
          <a:bodyPr wrap="square" rtlCol="0" anchor="ctr"/>
          <a:lstStyle/>
          <a:p>
            <a:pPr indent="0" marL="0">
              <a:buNone/>
            </a:pPr>
            <a:r>
              <a:rPr lang="en-US" sz="1100" b="1" dirty="0">
                <a:solidFill>
                  <a:srgbClr val="2FAE6B"/>
                </a:solidFill>
                <a:latin typeface="Arial" pitchFamily="34" charset="0"/>
                <a:ea typeface="Arial" pitchFamily="34" charset="-122"/>
                <a:cs typeface="Arial" pitchFamily="34" charset="-120"/>
              </a:rPr>
              <a:t>✓ Logged once, everywhere</a:t>
            </a:r>
            <a:endParaRPr lang="en-US" sz="1100" dirty="0"/>
          </a:p>
        </p:txBody>
      </p:sp>
      <p:sp>
        <p:nvSpPr>
          <p:cNvPr id="13" name="Shape 11"/>
          <p:cNvSpPr/>
          <p:nvPr/>
        </p:nvSpPr>
        <p:spPr>
          <a:xfrm>
            <a:off x="548640" y="3749040"/>
            <a:ext cx="5449824" cy="2148840"/>
          </a:xfrm>
          <a:prstGeom prst="roundRect">
            <a:avLst>
              <a:gd name="adj" fmla="val 4255"/>
            </a:avLst>
          </a:prstGeom>
          <a:solidFill>
            <a:srgbClr val="151B18"/>
          </a:solidFill>
          <a:ln w="12700">
            <a:solidFill>
              <a:srgbClr val="26302A"/>
            </a:solidFill>
            <a:prstDash val="solid"/>
          </a:ln>
        </p:spPr>
      </p:sp>
      <p:sp>
        <p:nvSpPr>
          <p:cNvPr id="14" name="Text 12"/>
          <p:cNvSpPr/>
          <p:nvPr/>
        </p:nvSpPr>
        <p:spPr>
          <a:xfrm>
            <a:off x="822960" y="3950208"/>
            <a:ext cx="4937760" cy="457200"/>
          </a:xfrm>
          <a:prstGeom prst="rect">
            <a:avLst/>
          </a:prstGeom>
          <a:noFill/>
          <a:ln/>
        </p:spPr>
        <p:txBody>
          <a:bodyPr wrap="square" rtlCol="0" anchor="ctr"/>
          <a:lstStyle/>
          <a:p>
            <a:pPr indent="0" marL="0">
              <a:buNone/>
            </a:pPr>
            <a:r>
              <a:rPr lang="en-US" sz="1500" b="1" dirty="0">
                <a:solidFill>
                  <a:srgbClr val="2FAE6B"/>
                </a:solidFill>
                <a:latin typeface="Arial" pitchFamily="34" charset="0"/>
                <a:ea typeface="Arial" pitchFamily="34" charset="-122"/>
                <a:cs typeface="Arial" pitchFamily="34" charset="-120"/>
              </a:rPr>
              <a:t>A designer needs contacts tonight</a:t>
            </a:r>
            <a:endParaRPr lang="en-US" sz="1500" dirty="0"/>
          </a:p>
        </p:txBody>
      </p:sp>
      <p:sp>
        <p:nvSpPr>
          <p:cNvPr id="15" name="Text 13"/>
          <p:cNvSpPr/>
          <p:nvPr/>
        </p:nvSpPr>
        <p:spPr>
          <a:xfrm>
            <a:off x="822960" y="4462272"/>
            <a:ext cx="4937760" cy="914400"/>
          </a:xfrm>
          <a:prstGeom prst="rect">
            <a:avLst/>
          </a:prstGeom>
          <a:noFill/>
          <a:ln/>
        </p:spPr>
        <p:txBody>
          <a:bodyPr wrap="square" rtlCol="0" anchor="ctr"/>
          <a:lstStyle/>
          <a:p>
            <a:pPr indent="0" marL="0">
              <a:lnSpc>
                <a:spcPct val="135000"/>
              </a:lnSpc>
              <a:buNone/>
            </a:pPr>
            <a:r>
              <a:rPr lang="en-US" sz="1200" dirty="0">
                <a:solidFill>
                  <a:srgbClr val="A7B6AB"/>
                </a:solidFill>
                <a:latin typeface="Arial" pitchFamily="34" charset="0"/>
                <a:ea typeface="Arial" pitchFamily="34" charset="-122"/>
                <a:cs typeface="Arial" pitchFamily="34" charset="-120"/>
              </a:rPr>
              <a:t>Print the cast list or export a CSV in a single tap, with no login and no shared-drive hunting.</a:t>
            </a:r>
            <a:endParaRPr lang="en-US" sz="1200" dirty="0"/>
          </a:p>
        </p:txBody>
      </p:sp>
      <p:sp>
        <p:nvSpPr>
          <p:cNvPr id="16" name="Text 14"/>
          <p:cNvSpPr/>
          <p:nvPr/>
        </p:nvSpPr>
        <p:spPr>
          <a:xfrm>
            <a:off x="822960" y="5440680"/>
            <a:ext cx="4572000" cy="320040"/>
          </a:xfrm>
          <a:prstGeom prst="rect">
            <a:avLst/>
          </a:prstGeom>
          <a:noFill/>
          <a:ln/>
        </p:spPr>
        <p:txBody>
          <a:bodyPr wrap="square" rtlCol="0" anchor="ctr"/>
          <a:lstStyle/>
          <a:p>
            <a:pPr indent="0" marL="0">
              <a:buNone/>
            </a:pPr>
            <a:r>
              <a:rPr lang="en-US" sz="1100" b="1" dirty="0">
                <a:solidFill>
                  <a:srgbClr val="2FAE6B"/>
                </a:solidFill>
                <a:latin typeface="Arial" pitchFamily="34" charset="0"/>
                <a:ea typeface="Arial" pitchFamily="34" charset="-122"/>
                <a:cs typeface="Arial" pitchFamily="34" charset="-120"/>
              </a:rPr>
              <a:t>✓ Sent in one tap</a:t>
            </a:r>
            <a:endParaRPr lang="en-US" sz="1100" dirty="0"/>
          </a:p>
        </p:txBody>
      </p:sp>
      <p:sp>
        <p:nvSpPr>
          <p:cNvPr id="17" name="Shape 15"/>
          <p:cNvSpPr/>
          <p:nvPr/>
        </p:nvSpPr>
        <p:spPr>
          <a:xfrm>
            <a:off x="6181344" y="3749040"/>
            <a:ext cx="5449824" cy="2148840"/>
          </a:xfrm>
          <a:prstGeom prst="roundRect">
            <a:avLst>
              <a:gd name="adj" fmla="val 4255"/>
            </a:avLst>
          </a:prstGeom>
          <a:solidFill>
            <a:srgbClr val="151B18"/>
          </a:solidFill>
          <a:ln w="12700">
            <a:solidFill>
              <a:srgbClr val="26302A"/>
            </a:solidFill>
            <a:prstDash val="solid"/>
          </a:ln>
        </p:spPr>
      </p:sp>
      <p:sp>
        <p:nvSpPr>
          <p:cNvPr id="18" name="Text 16"/>
          <p:cNvSpPr/>
          <p:nvPr/>
        </p:nvSpPr>
        <p:spPr>
          <a:xfrm>
            <a:off x="6455664" y="3950208"/>
            <a:ext cx="4937760" cy="457200"/>
          </a:xfrm>
          <a:prstGeom prst="rect">
            <a:avLst/>
          </a:prstGeom>
          <a:noFill/>
          <a:ln/>
        </p:spPr>
        <p:txBody>
          <a:bodyPr wrap="square" rtlCol="0" anchor="ctr"/>
          <a:lstStyle/>
          <a:p>
            <a:pPr indent="0" marL="0">
              <a:buNone/>
            </a:pPr>
            <a:r>
              <a:rPr lang="en-US" sz="1500" b="1" dirty="0">
                <a:solidFill>
                  <a:srgbClr val="2FAE6B"/>
                </a:solidFill>
                <a:latin typeface="Arial" pitchFamily="34" charset="0"/>
                <a:ea typeface="Arial" pitchFamily="34" charset="-122"/>
                <a:cs typeface="Arial" pitchFamily="34" charset="-120"/>
              </a:rPr>
              <a:t>You sub in on a running show</a:t>
            </a:r>
            <a:endParaRPr lang="en-US" sz="1500" dirty="0"/>
          </a:p>
        </p:txBody>
      </p:sp>
      <p:sp>
        <p:nvSpPr>
          <p:cNvPr id="19" name="Text 17"/>
          <p:cNvSpPr/>
          <p:nvPr/>
        </p:nvSpPr>
        <p:spPr>
          <a:xfrm>
            <a:off x="6455664" y="4462272"/>
            <a:ext cx="4937760" cy="914400"/>
          </a:xfrm>
          <a:prstGeom prst="rect">
            <a:avLst/>
          </a:prstGeom>
          <a:noFill/>
          <a:ln/>
        </p:spPr>
        <p:txBody>
          <a:bodyPr wrap="square" rtlCol="0" anchor="ctr"/>
          <a:lstStyle/>
          <a:p>
            <a:pPr indent="0" marL="0">
              <a:lnSpc>
                <a:spcPct val="135000"/>
              </a:lnSpc>
              <a:buNone/>
            </a:pPr>
            <a:r>
              <a:rPr lang="en-US" sz="1200" dirty="0">
                <a:solidFill>
                  <a:srgbClr val="A7B6AB"/>
                </a:solidFill>
                <a:latin typeface="Arial" pitchFamily="34" charset="0"/>
                <a:ea typeface="Arial" pitchFamily="34" charset="-122"/>
                <a:cs typeface="Arial" pitchFamily="34" charset="-120"/>
              </a:rPr>
              <a:t>The outgoing stage manager sends one backup file. Import it, and the whole prompt book is yours.</a:t>
            </a:r>
            <a:endParaRPr lang="en-US" sz="1200" dirty="0"/>
          </a:p>
        </p:txBody>
      </p:sp>
      <p:sp>
        <p:nvSpPr>
          <p:cNvPr id="20" name="Text 18"/>
          <p:cNvSpPr/>
          <p:nvPr/>
        </p:nvSpPr>
        <p:spPr>
          <a:xfrm>
            <a:off x="6455664" y="5440680"/>
            <a:ext cx="4572000" cy="320040"/>
          </a:xfrm>
          <a:prstGeom prst="rect">
            <a:avLst/>
          </a:prstGeom>
          <a:noFill/>
          <a:ln/>
        </p:spPr>
        <p:txBody>
          <a:bodyPr wrap="square" rtlCol="0" anchor="ctr"/>
          <a:lstStyle/>
          <a:p>
            <a:pPr indent="0" marL="0">
              <a:buNone/>
            </a:pPr>
            <a:r>
              <a:rPr lang="en-US" sz="1100" b="1" dirty="0">
                <a:solidFill>
                  <a:srgbClr val="2FAE6B"/>
                </a:solidFill>
                <a:latin typeface="Arial" pitchFamily="34" charset="0"/>
                <a:ea typeface="Arial" pitchFamily="34" charset="-122"/>
                <a:cs typeface="Arial" pitchFamily="34" charset="-120"/>
              </a:rPr>
              <a:t>✓ Up to speed in seconds</a:t>
            </a:r>
            <a:endParaRPr lang="en-US" sz="1100" dirty="0"/>
          </a:p>
        </p:txBody>
      </p:sp>
      <p:sp>
        <p:nvSpPr>
          <p:cNvPr id="21" name="Text 19"/>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384048"/>
            <a:ext cx="9601200" cy="640080"/>
          </a:xfrm>
          <a:prstGeom prst="rect">
            <a:avLst/>
          </a:prstGeom>
          <a:noFill/>
          <a:ln/>
        </p:spPr>
        <p:txBody>
          <a:bodyPr wrap="square" rtlCol="0" anchor="ctr"/>
          <a:lstStyle/>
          <a:p>
            <a:pPr indent="0" marL="0">
              <a:buNone/>
            </a:pPr>
            <a:r>
              <a:rPr lang="en-US" sz="2600" b="1" dirty="0">
                <a:solidFill>
                  <a:srgbClr val="F1EFE7"/>
                </a:solidFill>
                <a:latin typeface="Arial" pitchFamily="34" charset="0"/>
                <a:ea typeface="Arial" pitchFamily="34" charset="-122"/>
                <a:cs typeface="Arial" pitchFamily="34" charset="-120"/>
              </a:rPr>
              <a:t>Built for the Field: OOB &amp; AEA</a:t>
            </a:r>
            <a:endParaRPr lang="en-US" sz="2600" dirty="0"/>
          </a:p>
        </p:txBody>
      </p:sp>
      <p:sp>
        <p:nvSpPr>
          <p:cNvPr id="3" name="Text 1"/>
          <p:cNvSpPr/>
          <p:nvPr/>
        </p:nvSpPr>
        <p:spPr>
          <a:xfrm>
            <a:off x="10515600" y="384048"/>
            <a:ext cx="1097280" cy="640080"/>
          </a:xfrm>
          <a:prstGeom prst="rect">
            <a:avLst/>
          </a:prstGeom>
          <a:noFill/>
          <a:ln/>
        </p:spPr>
        <p:txBody>
          <a:bodyPr wrap="square" rtlCol="0" anchor="ctr"/>
          <a:lstStyle/>
          <a:p>
            <a:pPr algn="r" indent="0" marL="0">
              <a:buNone/>
            </a:pPr>
            <a:r>
              <a:rPr lang="en-US" sz="2200" b="1" dirty="0">
                <a:solidFill>
                  <a:srgbClr val="26302A"/>
                </a:solidFill>
                <a:latin typeface="Arial" pitchFamily="34" charset="0"/>
                <a:ea typeface="Arial" pitchFamily="34" charset="-122"/>
                <a:cs typeface="Arial" pitchFamily="34" charset="-120"/>
              </a:rPr>
              <a:t>04</a:t>
            </a:r>
            <a:endParaRPr lang="en-US" sz="2200" dirty="0"/>
          </a:p>
        </p:txBody>
      </p:sp>
      <p:sp>
        <p:nvSpPr>
          <p:cNvPr id="4" name="Shape 2"/>
          <p:cNvSpPr/>
          <p:nvPr/>
        </p:nvSpPr>
        <p:spPr>
          <a:xfrm>
            <a:off x="548640" y="1133856"/>
            <a:ext cx="11091672" cy="0"/>
          </a:xfrm>
          <a:prstGeom prst="line">
            <a:avLst/>
          </a:prstGeom>
          <a:noFill/>
          <a:ln w="25400">
            <a:solidFill>
              <a:srgbClr val="2FAE6B"/>
            </a:solidFill>
            <a:prstDash val="solid"/>
          </a:ln>
        </p:spPr>
      </p:sp>
      <p:sp>
        <p:nvSpPr>
          <p:cNvPr id="5" name="Shape 3"/>
          <p:cNvSpPr/>
          <p:nvPr/>
        </p:nvSpPr>
        <p:spPr>
          <a:xfrm>
            <a:off x="548640" y="1463040"/>
            <a:ext cx="5449824" cy="4297680"/>
          </a:xfrm>
          <a:prstGeom prst="roundRect">
            <a:avLst>
              <a:gd name="adj" fmla="val 2128"/>
            </a:avLst>
          </a:prstGeom>
          <a:solidFill>
            <a:srgbClr val="151B18"/>
          </a:solidFill>
          <a:ln w="12700">
            <a:solidFill>
              <a:srgbClr val="26302A"/>
            </a:solidFill>
            <a:prstDash val="solid"/>
          </a:ln>
        </p:spPr>
      </p:sp>
      <p:sp>
        <p:nvSpPr>
          <p:cNvPr id="6" name="Text 4"/>
          <p:cNvSpPr/>
          <p:nvPr/>
        </p:nvSpPr>
        <p:spPr>
          <a:xfrm>
            <a:off x="868680" y="1783080"/>
            <a:ext cx="4846320" cy="457200"/>
          </a:xfrm>
          <a:prstGeom prst="rect">
            <a:avLst/>
          </a:prstGeom>
          <a:noFill/>
          <a:ln/>
        </p:spPr>
        <p:txBody>
          <a:bodyPr wrap="square" rtlCol="0" anchor="ctr"/>
          <a:lstStyle/>
          <a:p>
            <a:pPr indent="0" marL="0">
              <a:buNone/>
            </a:pPr>
            <a:r>
              <a:rPr lang="en-US" sz="1800" b="1" dirty="0">
                <a:solidFill>
                  <a:srgbClr val="2FAE6B"/>
                </a:solidFill>
                <a:latin typeface="Arial" pitchFamily="34" charset="0"/>
                <a:ea typeface="Arial" pitchFamily="34" charset="-122"/>
                <a:cs typeface="Arial" pitchFamily="34" charset="-120"/>
              </a:rPr>
              <a:t>For OOB companies</a:t>
            </a:r>
            <a:endParaRPr lang="en-US" sz="1800" dirty="0"/>
          </a:p>
        </p:txBody>
      </p:sp>
      <p:sp>
        <p:nvSpPr>
          <p:cNvPr id="7" name="Text 5"/>
          <p:cNvSpPr/>
          <p:nvPr/>
        </p:nvSpPr>
        <p:spPr>
          <a:xfrm>
            <a:off x="896112" y="2468880"/>
            <a:ext cx="4846320" cy="3108960"/>
          </a:xfrm>
          <a:prstGeom prst="rect">
            <a:avLst/>
          </a:prstGeom>
          <a:noFill/>
          <a:ln/>
        </p:spPr>
        <p:txBody>
          <a:bodyPr wrap="square" rtlCol="0" anchor="ctr"/>
          <a:lstStyle/>
          <a:p>
            <a:pPr marL="177800" indent="-177800">
              <a:lnSpc>
                <a:spcPct val="140000"/>
              </a:lnSpc>
              <a:buSzPct val="100000"/>
              <a:buChar char="›"/>
            </a:pPr>
            <a:r>
              <a:rPr lang="en-US" sz="1300" dirty="0">
                <a:solidFill>
                  <a:srgbClr val="A7B6AB"/>
                </a:solidFill>
                <a:latin typeface="Arial" pitchFamily="34" charset="0"/>
                <a:ea typeface="Arial" pitchFamily="34" charset="-122"/>
                <a:cs typeface="Arial" pitchFamily="34" charset="-120"/>
              </a:rPr>
              <a:t>Free and installs nothing, for companies with no budget and no IT</a:t>
            </a:r>
            <a:endParaRPr lang="en-US" sz="1300" dirty="0"/>
          </a:p>
          <a:p>
            <a:pPr marL="177800" indent="-177800">
              <a:lnSpc>
                <a:spcPct val="140000"/>
              </a:lnSpc>
              <a:buSzPct val="100000"/>
              <a:buChar char="›"/>
            </a:pPr>
            <a:r>
              <a:rPr lang="en-US" sz="1300" dirty="0">
                <a:solidFill>
                  <a:srgbClr val="A7B6AB"/>
                </a:solidFill>
                <a:latin typeface="Arial" pitchFamily="34" charset="0"/>
                <a:ea typeface="Arial" pitchFamily="34" charset="-122"/>
                <a:cs typeface="Arial" pitchFamily="34" charset="-120"/>
              </a:rPr>
              <a:t>Runs on the SM’s own iPad, with no account to provision</a:t>
            </a:r>
            <a:endParaRPr lang="en-US" sz="1300" dirty="0"/>
          </a:p>
          <a:p>
            <a:pPr marL="177800" indent="-177800">
              <a:lnSpc>
                <a:spcPct val="140000"/>
              </a:lnSpc>
              <a:buSzPct val="100000"/>
              <a:buChar char="›"/>
            </a:pPr>
            <a:r>
              <a:rPr lang="en-US" sz="1300" dirty="0">
                <a:solidFill>
                  <a:srgbClr val="A7B6AB"/>
                </a:solidFill>
                <a:latin typeface="Arial" pitchFamily="34" charset="0"/>
                <a:ea typeface="Arial" pitchFamily="34" charset="-122"/>
                <a:cs typeface="Arial" pitchFamily="34" charset="-120"/>
              </a:rPr>
              <a:t>Export and import covers the handoff when the SM changes</a:t>
            </a:r>
            <a:endParaRPr lang="en-US" sz="1300" dirty="0"/>
          </a:p>
          <a:p>
            <a:pPr marL="177800" indent="-177800">
              <a:lnSpc>
                <a:spcPct val="140000"/>
              </a:lnSpc>
              <a:buSzPct val="100000"/>
              <a:buChar char="›"/>
            </a:pPr>
            <a:r>
              <a:rPr lang="en-US" sz="1300" dirty="0">
                <a:solidFill>
                  <a:srgbClr val="A7B6AB"/>
                </a:solidFill>
                <a:latin typeface="Arial" pitchFamily="34" charset="0"/>
                <a:ea typeface="Arial" pitchFamily="34" charset="-122"/>
                <a:cs typeface="Arial" pitchFamily="34" charset="-120"/>
              </a:rPr>
              <a:t>A sample production teaches the whole tool in one tap</a:t>
            </a:r>
            <a:endParaRPr lang="en-US" sz="1300" dirty="0"/>
          </a:p>
        </p:txBody>
      </p:sp>
      <p:sp>
        <p:nvSpPr>
          <p:cNvPr id="8" name="Shape 6"/>
          <p:cNvSpPr/>
          <p:nvPr/>
        </p:nvSpPr>
        <p:spPr>
          <a:xfrm>
            <a:off x="6181344" y="1463040"/>
            <a:ext cx="5449824" cy="4297680"/>
          </a:xfrm>
          <a:prstGeom prst="roundRect">
            <a:avLst>
              <a:gd name="adj" fmla="val 2128"/>
            </a:avLst>
          </a:prstGeom>
          <a:solidFill>
            <a:srgbClr val="151B18"/>
          </a:solidFill>
          <a:ln w="12700">
            <a:solidFill>
              <a:srgbClr val="26302A"/>
            </a:solidFill>
            <a:prstDash val="solid"/>
          </a:ln>
        </p:spPr>
      </p:sp>
      <p:sp>
        <p:nvSpPr>
          <p:cNvPr id="9" name="Text 7"/>
          <p:cNvSpPr/>
          <p:nvPr/>
        </p:nvSpPr>
        <p:spPr>
          <a:xfrm>
            <a:off x="6501384" y="1783080"/>
            <a:ext cx="4846320" cy="457200"/>
          </a:xfrm>
          <a:prstGeom prst="rect">
            <a:avLst/>
          </a:prstGeom>
          <a:noFill/>
          <a:ln/>
        </p:spPr>
        <p:txBody>
          <a:bodyPr wrap="square" rtlCol="0" anchor="ctr"/>
          <a:lstStyle/>
          <a:p>
            <a:pPr indent="0" marL="0">
              <a:buNone/>
            </a:pPr>
            <a:r>
              <a:rPr lang="en-US" sz="1800" b="1" dirty="0">
                <a:solidFill>
                  <a:srgbClr val="9FB8A6"/>
                </a:solidFill>
                <a:latin typeface="Arial" pitchFamily="34" charset="0"/>
                <a:ea typeface="Arial" pitchFamily="34" charset="-122"/>
                <a:cs typeface="Arial" pitchFamily="34" charset="-120"/>
              </a:rPr>
              <a:t>For AEA productions</a:t>
            </a:r>
            <a:endParaRPr lang="en-US" sz="1800" dirty="0"/>
          </a:p>
        </p:txBody>
      </p:sp>
      <p:sp>
        <p:nvSpPr>
          <p:cNvPr id="10" name="Text 8"/>
          <p:cNvSpPr/>
          <p:nvPr/>
        </p:nvSpPr>
        <p:spPr>
          <a:xfrm>
            <a:off x="6528816" y="2468880"/>
            <a:ext cx="4846320" cy="3108960"/>
          </a:xfrm>
          <a:prstGeom prst="rect">
            <a:avLst/>
          </a:prstGeom>
          <a:noFill/>
          <a:ln/>
        </p:spPr>
        <p:txBody>
          <a:bodyPr wrap="square" rtlCol="0" anchor="ctr"/>
          <a:lstStyle/>
          <a:p>
            <a:pPr marL="177800" indent="-177800">
              <a:lnSpc>
                <a:spcPct val="140000"/>
              </a:lnSpc>
              <a:buSzPct val="100000"/>
              <a:buChar char="›"/>
            </a:pPr>
            <a:r>
              <a:rPr lang="en-US" sz="1300" dirty="0">
                <a:solidFill>
                  <a:srgbClr val="A7B6AB"/>
                </a:solidFill>
                <a:latin typeface="Arial" pitchFamily="34" charset="0"/>
                <a:ea typeface="Arial" pitchFamily="34" charset="-122"/>
                <a:cs typeface="Arial" pitchFamily="34" charset="-120"/>
              </a:rPr>
              <a:t>Distribution-ready reports and callboard sign-in sheets</a:t>
            </a:r>
            <a:endParaRPr lang="en-US" sz="1300" dirty="0"/>
          </a:p>
          <a:p>
            <a:pPr marL="177800" indent="-177800">
              <a:lnSpc>
                <a:spcPct val="140000"/>
              </a:lnSpc>
              <a:buSzPct val="100000"/>
              <a:buChar char="›"/>
            </a:pPr>
            <a:r>
              <a:rPr lang="en-US" sz="1300" dirty="0">
                <a:solidFill>
                  <a:srgbClr val="A7B6AB"/>
                </a:solidFill>
                <a:latin typeface="Arial" pitchFamily="34" charset="0"/>
                <a:ea typeface="Arial" pitchFamily="34" charset="-122"/>
                <a:cs typeface="Arial" pitchFamily="34" charset="-120"/>
              </a:rPr>
              <a:t>Attendance: present, late, absent, excused, no-show</a:t>
            </a:r>
            <a:endParaRPr lang="en-US" sz="1300" dirty="0"/>
          </a:p>
          <a:p>
            <a:pPr marL="177800" indent="-177800">
              <a:lnSpc>
                <a:spcPct val="140000"/>
              </a:lnSpc>
              <a:buSzPct val="100000"/>
              <a:buChar char="›"/>
            </a:pPr>
            <a:r>
              <a:rPr lang="en-US" sz="1300" dirty="0">
                <a:solidFill>
                  <a:srgbClr val="A7B6AB"/>
                </a:solidFill>
                <a:latin typeface="Arial" pitchFamily="34" charset="0"/>
                <a:ea typeface="Arial" pitchFamily="34" charset="-122"/>
                <a:cs typeface="Arial" pitchFamily="34" charset="-120"/>
              </a:rPr>
              <a:t>Break and timing notes captured in every report</a:t>
            </a:r>
            <a:endParaRPr lang="en-US" sz="1300" dirty="0"/>
          </a:p>
          <a:p>
            <a:pPr marL="177800" indent="-177800">
              <a:lnSpc>
                <a:spcPct val="140000"/>
              </a:lnSpc>
              <a:buSzPct val="100000"/>
              <a:buChar char="›"/>
            </a:pPr>
            <a:r>
              <a:rPr lang="en-US" sz="1300" dirty="0">
                <a:solidFill>
                  <a:srgbClr val="A7B6AB"/>
                </a:solidFill>
                <a:latin typeface="Arial" pitchFamily="34" charset="0"/>
                <a:ea typeface="Arial" pitchFamily="34" charset="-122"/>
                <a:cs typeface="Arial" pitchFamily="34" charset="-120"/>
              </a:rPr>
              <a:t>Emergency contact and conflict tracking that respects availability</a:t>
            </a:r>
            <a:endParaRPr lang="en-US" sz="1300" dirty="0"/>
          </a:p>
        </p:txBody>
      </p:sp>
      <p:sp>
        <p:nvSpPr>
          <p:cNvPr id="11" name="Text 9"/>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algn="ctr" indent="0" marL="0">
              <a:buNone/>
            </a:pPr>
            <a:r>
              <a:rPr lang="en-US" sz="1100" b="1" spc="400" kern="0" dirty="0">
                <a:solidFill>
                  <a:srgbClr val="9FB8A6"/>
                </a:solidFill>
                <a:latin typeface="Arial" pitchFamily="34" charset="0"/>
                <a:ea typeface="Arial" pitchFamily="34" charset="-122"/>
                <a:cs typeface="Arial" pitchFamily="34" charset="-120"/>
              </a:rPr>
              <a:t>THE INTERFACE · 1 OF 5</a:t>
            </a:r>
            <a:endParaRPr lang="en-US" sz="1100" dirty="0"/>
          </a:p>
        </p:txBody>
      </p:sp>
      <p:sp>
        <p:nvSpPr>
          <p:cNvPr id="3" name="Text 1"/>
          <p:cNvSpPr/>
          <p:nvPr/>
        </p:nvSpPr>
        <p:spPr>
          <a:xfrm>
            <a:off x="548640" y="777240"/>
            <a:ext cx="11091672" cy="502920"/>
          </a:xfrm>
          <a:prstGeom prst="rect">
            <a:avLst/>
          </a:prstGeom>
          <a:noFill/>
          <a:ln/>
        </p:spPr>
        <p:txBody>
          <a:bodyPr wrap="square" rtlCol="0" anchor="ctr"/>
          <a:lstStyle/>
          <a:p>
            <a:pPr algn="ctr" indent="0" marL="0">
              <a:buNone/>
            </a:pPr>
            <a:r>
              <a:rPr lang="en-US" sz="2600" b="1" dirty="0">
                <a:solidFill>
                  <a:srgbClr val="F1EFE7"/>
                </a:solidFill>
                <a:latin typeface="Arial" pitchFamily="34" charset="0"/>
                <a:ea typeface="Arial" pitchFamily="34" charset="-122"/>
                <a:cs typeface="Arial" pitchFamily="34" charset="-120"/>
              </a:rPr>
              <a:t>Production Hub</a:t>
            </a:r>
            <a:endParaRPr lang="en-US" sz="2600" dirty="0"/>
          </a:p>
        </p:txBody>
      </p:sp>
      <p:sp>
        <p:nvSpPr>
          <p:cNvPr id="4" name="Text 2"/>
          <p:cNvSpPr/>
          <p:nvPr/>
        </p:nvSpPr>
        <p:spPr>
          <a:xfrm>
            <a:off x="1920240" y="1371600"/>
            <a:ext cx="8348472" cy="822960"/>
          </a:xfrm>
          <a:prstGeom prst="rect">
            <a:avLst/>
          </a:prstGeom>
          <a:noFill/>
          <a:ln/>
        </p:spPr>
        <p:txBody>
          <a:bodyPr wrap="square" rtlCol="0" anchor="ctr"/>
          <a:lstStyle/>
          <a:p>
            <a:pPr algn="ctr" indent="0" marL="0">
              <a:lnSpc>
                <a:spcPct val="130000"/>
              </a:lnSpc>
              <a:buNone/>
            </a:pPr>
            <a:r>
              <a:rPr lang="en-US" sz="1300" dirty="0">
                <a:solidFill>
                  <a:srgbClr val="A7B6AB"/>
                </a:solidFill>
                <a:latin typeface="Arial" pitchFamily="34" charset="0"/>
                <a:ea typeface="Arial" pitchFamily="34" charset="-122"/>
                <a:cs typeface="Arial" pitchFamily="34" charset="-120"/>
              </a:rPr>
              <a:t>The Production Hub is the show’s home screen. Tappable tiles surface the headline numbers (cast size, upcoming calls, reports filed, and days to opening), while "Next Up" lists the coming calls and "Key Dates" pins the milestones. When tech approaches, a banner links straight to the calling script.</a:t>
            </a:r>
            <a:endParaRPr lang="en-US" sz="1300" dirty="0"/>
          </a:p>
        </p:txBody>
      </p:sp>
      <p:pic>
        <p:nvPicPr>
          <p:cNvPr id="5" name="Image 0" descr="/tmp/claude-0/-home-user-Stagemgmt/e76b5e2d-147e-5e6b-b0bf-e11fb4768a64/scratchpad/shot-hub.png">    </p:cNvPr>
          <p:cNvPicPr>
            <a:picLocks noChangeAspect="1"/>
          </p:cNvPicPr>
          <p:nvPr/>
        </p:nvPicPr>
        <p:blipFill>
          <a:blip r:embed="rId1"/>
          <a:stretch>
            <a:fillRect/>
          </a:stretch>
        </p:blipFill>
        <p:spPr>
          <a:xfrm>
            <a:off x="2441448" y="2331720"/>
            <a:ext cx="7315200" cy="4572000"/>
          </a:xfrm>
          <a:prstGeom prst="ellipse">
            <a:avLst/>
          </a:prstGeom>
        </p:spPr>
      </p:pic>
      <p:sp>
        <p:nvSpPr>
          <p:cNvPr id="6" name="Text 3"/>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algn="ctr" indent="0" marL="0">
              <a:buNone/>
            </a:pPr>
            <a:r>
              <a:rPr lang="en-US" sz="1100" b="1" spc="400" kern="0" dirty="0">
                <a:solidFill>
                  <a:srgbClr val="9FB8A6"/>
                </a:solidFill>
                <a:latin typeface="Arial" pitchFamily="34" charset="0"/>
                <a:ea typeface="Arial" pitchFamily="34" charset="-122"/>
                <a:cs typeface="Arial" pitchFamily="34" charset="-120"/>
              </a:rPr>
              <a:t>THE INTERFACE · 2 OF 5</a:t>
            </a:r>
            <a:endParaRPr lang="en-US" sz="1100" dirty="0"/>
          </a:p>
        </p:txBody>
      </p:sp>
      <p:sp>
        <p:nvSpPr>
          <p:cNvPr id="3" name="Text 1"/>
          <p:cNvSpPr/>
          <p:nvPr/>
        </p:nvSpPr>
        <p:spPr>
          <a:xfrm>
            <a:off x="548640" y="777240"/>
            <a:ext cx="11091672" cy="502920"/>
          </a:xfrm>
          <a:prstGeom prst="rect">
            <a:avLst/>
          </a:prstGeom>
          <a:noFill/>
          <a:ln/>
        </p:spPr>
        <p:txBody>
          <a:bodyPr wrap="square" rtlCol="0" anchor="ctr"/>
          <a:lstStyle/>
          <a:p>
            <a:pPr algn="ctr" indent="0" marL="0">
              <a:buNone/>
            </a:pPr>
            <a:r>
              <a:rPr lang="en-US" sz="2600" b="1" dirty="0">
                <a:solidFill>
                  <a:srgbClr val="F1EFE7"/>
                </a:solidFill>
                <a:latin typeface="Arial" pitchFamily="34" charset="0"/>
                <a:ea typeface="Arial" pitchFamily="34" charset="-122"/>
                <a:cs typeface="Arial" pitchFamily="34" charset="-120"/>
              </a:rPr>
              <a:t>Cue-to-Cue Calling Script</a:t>
            </a:r>
            <a:endParaRPr lang="en-US" sz="2600" dirty="0"/>
          </a:p>
        </p:txBody>
      </p:sp>
      <p:sp>
        <p:nvSpPr>
          <p:cNvPr id="4" name="Text 2"/>
          <p:cNvSpPr/>
          <p:nvPr/>
        </p:nvSpPr>
        <p:spPr>
          <a:xfrm>
            <a:off x="1920240" y="1371600"/>
            <a:ext cx="8348472" cy="822960"/>
          </a:xfrm>
          <a:prstGeom prst="rect">
            <a:avLst/>
          </a:prstGeom>
          <a:noFill/>
          <a:ln/>
        </p:spPr>
        <p:txBody>
          <a:bodyPr wrap="square" rtlCol="0" anchor="ctr"/>
          <a:lstStyle/>
          <a:p>
            <a:pPr algn="ctr" indent="0" marL="0">
              <a:lnSpc>
                <a:spcPct val="130000"/>
              </a:lnSpc>
              <a:buNone/>
            </a:pPr>
            <a:r>
              <a:rPr lang="en-US" sz="1300" dirty="0">
                <a:solidFill>
                  <a:srgbClr val="A7B6AB"/>
                </a:solidFill>
                <a:latin typeface="Arial" pitchFamily="34" charset="0"/>
                <a:ea typeface="Arial" pitchFamily="34" charset="-122"/>
                <a:cs typeface="Arial" pitchFamily="34" charset="-120"/>
              </a:rPr>
              <a:t>The Cue-to-Cue view holds every standby, cue, placement, action, and status in one sortable table. Department filters let the caller isolate a single track, and each cue moves from Draft to Teched to Set as the sequence is built. It appears automatically as tech week nears.</a:t>
            </a:r>
            <a:endParaRPr lang="en-US" sz="1300" dirty="0"/>
          </a:p>
        </p:txBody>
      </p:sp>
      <p:pic>
        <p:nvPicPr>
          <p:cNvPr id="5" name="Image 0" descr="/tmp/claude-0/-home-user-Stagemgmt/e76b5e2d-147e-5e6b-b0bf-e11fb4768a64/scratchpad/shot-cues.png">    </p:cNvPr>
          <p:cNvPicPr>
            <a:picLocks noChangeAspect="1"/>
          </p:cNvPicPr>
          <p:nvPr/>
        </p:nvPicPr>
        <p:blipFill>
          <a:blip r:embed="rId1"/>
          <a:stretch>
            <a:fillRect/>
          </a:stretch>
        </p:blipFill>
        <p:spPr>
          <a:xfrm>
            <a:off x="2441448" y="2331720"/>
            <a:ext cx="7315200" cy="4572000"/>
          </a:xfrm>
          <a:prstGeom prst="ellipse">
            <a:avLst/>
          </a:prstGeom>
        </p:spPr>
      </p:pic>
      <p:sp>
        <p:nvSpPr>
          <p:cNvPr id="6" name="Text 3"/>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algn="ctr" indent="0" marL="0">
              <a:buNone/>
            </a:pPr>
            <a:r>
              <a:rPr lang="en-US" sz="1100" b="1" spc="400" kern="0" dirty="0">
                <a:solidFill>
                  <a:srgbClr val="9FB8A6"/>
                </a:solidFill>
                <a:latin typeface="Arial" pitchFamily="34" charset="0"/>
                <a:ea typeface="Arial" pitchFamily="34" charset="-122"/>
                <a:cs typeface="Arial" pitchFamily="34" charset="-120"/>
              </a:rPr>
              <a:t>THE INTERFACE · 3 OF 5</a:t>
            </a:r>
            <a:endParaRPr lang="en-US" sz="1100" dirty="0"/>
          </a:p>
        </p:txBody>
      </p:sp>
      <p:sp>
        <p:nvSpPr>
          <p:cNvPr id="3" name="Text 1"/>
          <p:cNvSpPr/>
          <p:nvPr/>
        </p:nvSpPr>
        <p:spPr>
          <a:xfrm>
            <a:off x="548640" y="777240"/>
            <a:ext cx="11091672" cy="502920"/>
          </a:xfrm>
          <a:prstGeom prst="rect">
            <a:avLst/>
          </a:prstGeom>
          <a:noFill/>
          <a:ln/>
        </p:spPr>
        <p:txBody>
          <a:bodyPr wrap="square" rtlCol="0" anchor="ctr"/>
          <a:lstStyle/>
          <a:p>
            <a:pPr algn="ctr" indent="0" marL="0">
              <a:buNone/>
            </a:pPr>
            <a:r>
              <a:rPr lang="en-US" sz="2600" b="1" dirty="0">
                <a:solidFill>
                  <a:srgbClr val="F1EFE7"/>
                </a:solidFill>
                <a:latin typeface="Arial" pitchFamily="34" charset="0"/>
                <a:ea typeface="Arial" pitchFamily="34" charset="-122"/>
                <a:cs typeface="Arial" pitchFamily="34" charset="-120"/>
              </a:rPr>
              <a:t>Schedule &amp; Calendar</a:t>
            </a:r>
            <a:endParaRPr lang="en-US" sz="2600" dirty="0"/>
          </a:p>
        </p:txBody>
      </p:sp>
      <p:sp>
        <p:nvSpPr>
          <p:cNvPr id="4" name="Text 2"/>
          <p:cNvSpPr/>
          <p:nvPr/>
        </p:nvSpPr>
        <p:spPr>
          <a:xfrm>
            <a:off x="1920240" y="1371600"/>
            <a:ext cx="8348472" cy="822960"/>
          </a:xfrm>
          <a:prstGeom prst="rect">
            <a:avLst/>
          </a:prstGeom>
          <a:noFill/>
          <a:ln/>
        </p:spPr>
        <p:txBody>
          <a:bodyPr wrap="square" rtlCol="0" anchor="ctr"/>
          <a:lstStyle/>
          <a:p>
            <a:pPr algn="ctr" indent="0" marL="0">
              <a:lnSpc>
                <a:spcPct val="130000"/>
              </a:lnSpc>
              <a:buNone/>
            </a:pPr>
            <a:r>
              <a:rPr lang="en-US" sz="1300" dirty="0">
                <a:solidFill>
                  <a:srgbClr val="A7B6AB"/>
                </a:solidFill>
                <a:latin typeface="Arial" pitchFamily="34" charset="0"/>
                <a:ea typeface="Arial" pitchFamily="34" charset="-122"/>
                <a:cs typeface="Arial" pitchFamily="34" charset="-120"/>
              </a:rPr>
              <a:t>The Schedule shows the whole production month at a glance, color-coded by event type with a legend. Rehearsals, tech, and performances each read instantly, and tapping any date opens that call. The same events export to the company’s phones as a calendar file.</a:t>
            </a:r>
            <a:endParaRPr lang="en-US" sz="1300" dirty="0"/>
          </a:p>
        </p:txBody>
      </p:sp>
      <p:pic>
        <p:nvPicPr>
          <p:cNvPr id="5" name="Image 0" descr="/tmp/claude-0/-home-user-Stagemgmt/e76b5e2d-147e-5e6b-b0bf-e11fb4768a64/scratchpad/shot-calendar.png">    </p:cNvPr>
          <p:cNvPicPr>
            <a:picLocks noChangeAspect="1"/>
          </p:cNvPicPr>
          <p:nvPr/>
        </p:nvPicPr>
        <p:blipFill>
          <a:blip r:embed="rId1"/>
          <a:stretch>
            <a:fillRect/>
          </a:stretch>
        </p:blipFill>
        <p:spPr>
          <a:xfrm>
            <a:off x="2441448" y="2331720"/>
            <a:ext cx="7315200" cy="4572000"/>
          </a:xfrm>
          <a:prstGeom prst="ellipse">
            <a:avLst/>
          </a:prstGeom>
        </p:spPr>
      </p:pic>
      <p:sp>
        <p:nvSpPr>
          <p:cNvPr id="6" name="Text 3"/>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algn="ctr" indent="0" marL="0">
              <a:buNone/>
            </a:pPr>
            <a:r>
              <a:rPr lang="en-US" sz="1100" b="1" spc="400" kern="0" dirty="0">
                <a:solidFill>
                  <a:srgbClr val="9FB8A6"/>
                </a:solidFill>
                <a:latin typeface="Arial" pitchFamily="34" charset="0"/>
                <a:ea typeface="Arial" pitchFamily="34" charset="-122"/>
                <a:cs typeface="Arial" pitchFamily="34" charset="-120"/>
              </a:rPr>
              <a:t>THE INTERFACE · 4 OF 5</a:t>
            </a:r>
            <a:endParaRPr lang="en-US" sz="1100" dirty="0"/>
          </a:p>
        </p:txBody>
      </p:sp>
      <p:sp>
        <p:nvSpPr>
          <p:cNvPr id="3" name="Text 1"/>
          <p:cNvSpPr/>
          <p:nvPr/>
        </p:nvSpPr>
        <p:spPr>
          <a:xfrm>
            <a:off x="548640" y="777240"/>
            <a:ext cx="11091672" cy="502920"/>
          </a:xfrm>
          <a:prstGeom prst="rect">
            <a:avLst/>
          </a:prstGeom>
          <a:noFill/>
          <a:ln/>
        </p:spPr>
        <p:txBody>
          <a:bodyPr wrap="square" rtlCol="0" anchor="ctr"/>
          <a:lstStyle/>
          <a:p>
            <a:pPr algn="ctr" indent="0" marL="0">
              <a:buNone/>
            </a:pPr>
            <a:r>
              <a:rPr lang="en-US" sz="2600" b="1" dirty="0">
                <a:solidFill>
                  <a:srgbClr val="F1EFE7"/>
                </a:solidFill>
                <a:latin typeface="Arial" pitchFamily="34" charset="0"/>
                <a:ea typeface="Arial" pitchFamily="34" charset="-122"/>
                <a:cs typeface="Arial" pitchFamily="34" charset="-120"/>
              </a:rPr>
              <a:t>People &amp; Contact Sheet</a:t>
            </a:r>
            <a:endParaRPr lang="en-US" sz="2600" dirty="0"/>
          </a:p>
        </p:txBody>
      </p:sp>
      <p:sp>
        <p:nvSpPr>
          <p:cNvPr id="4" name="Text 2"/>
          <p:cNvSpPr/>
          <p:nvPr/>
        </p:nvSpPr>
        <p:spPr>
          <a:xfrm>
            <a:off x="1920240" y="1371600"/>
            <a:ext cx="8348472" cy="822960"/>
          </a:xfrm>
          <a:prstGeom prst="rect">
            <a:avLst/>
          </a:prstGeom>
          <a:noFill/>
          <a:ln/>
        </p:spPr>
        <p:txBody>
          <a:bodyPr wrap="square" rtlCol="0" anchor="ctr"/>
          <a:lstStyle/>
          <a:p>
            <a:pPr algn="ctr" indent="0" marL="0">
              <a:lnSpc>
                <a:spcPct val="130000"/>
              </a:lnSpc>
              <a:buNone/>
            </a:pPr>
            <a:r>
              <a:rPr lang="en-US" sz="1300" dirty="0">
                <a:solidFill>
                  <a:srgbClr val="A7B6AB"/>
                </a:solidFill>
                <a:latin typeface="Arial" pitchFamily="34" charset="0"/>
                <a:ea typeface="Arial" pitchFamily="34" charset="-122"/>
                <a:cs typeface="Arial" pitchFamily="34" charset="-120"/>
              </a:rPr>
              <a:t>People is the cast and crew contact sheet. Each row carries the person’s group, role or character, contact details, and emergency contact, and the list sorts and filters instantly. It prints as a clean cast list and exports as a CSV.</a:t>
            </a:r>
            <a:endParaRPr lang="en-US" sz="1300" dirty="0"/>
          </a:p>
        </p:txBody>
      </p:sp>
      <p:pic>
        <p:nvPicPr>
          <p:cNvPr id="5" name="Image 0" descr="/tmp/claude-0/-home-user-Stagemgmt/e76b5e2d-147e-5e6b-b0bf-e11fb4768a64/scratchpad/shot-people.png">    </p:cNvPr>
          <p:cNvPicPr>
            <a:picLocks noChangeAspect="1"/>
          </p:cNvPicPr>
          <p:nvPr/>
        </p:nvPicPr>
        <p:blipFill>
          <a:blip r:embed="rId1"/>
          <a:stretch>
            <a:fillRect/>
          </a:stretch>
        </p:blipFill>
        <p:spPr>
          <a:xfrm>
            <a:off x="2441448" y="2331720"/>
            <a:ext cx="7315200" cy="4572000"/>
          </a:xfrm>
          <a:prstGeom prst="ellipse">
            <a:avLst/>
          </a:prstGeom>
        </p:spPr>
      </p:pic>
      <p:sp>
        <p:nvSpPr>
          <p:cNvPr id="6" name="Text 3"/>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algn="ctr" indent="0" marL="0">
              <a:buNone/>
            </a:pPr>
            <a:r>
              <a:rPr lang="en-US" sz="1100" b="1" spc="400" kern="0" dirty="0">
                <a:solidFill>
                  <a:srgbClr val="9FB8A6"/>
                </a:solidFill>
                <a:latin typeface="Arial" pitchFamily="34" charset="0"/>
                <a:ea typeface="Arial" pitchFamily="34" charset="-122"/>
                <a:cs typeface="Arial" pitchFamily="34" charset="-120"/>
              </a:rPr>
              <a:t>THE INTERFACE · 5 OF 5</a:t>
            </a:r>
            <a:endParaRPr lang="en-US" sz="1100" dirty="0"/>
          </a:p>
        </p:txBody>
      </p:sp>
      <p:sp>
        <p:nvSpPr>
          <p:cNvPr id="3" name="Text 1"/>
          <p:cNvSpPr/>
          <p:nvPr/>
        </p:nvSpPr>
        <p:spPr>
          <a:xfrm>
            <a:off x="548640" y="777240"/>
            <a:ext cx="11091672" cy="502920"/>
          </a:xfrm>
          <a:prstGeom prst="rect">
            <a:avLst/>
          </a:prstGeom>
          <a:noFill/>
          <a:ln/>
        </p:spPr>
        <p:txBody>
          <a:bodyPr wrap="square" rtlCol="0" anchor="ctr"/>
          <a:lstStyle/>
          <a:p>
            <a:pPr algn="ctr" indent="0" marL="0">
              <a:buNone/>
            </a:pPr>
            <a:r>
              <a:rPr lang="en-US" sz="2600" b="1" dirty="0">
                <a:solidFill>
                  <a:srgbClr val="F1EFE7"/>
                </a:solidFill>
                <a:latin typeface="Arial" pitchFamily="34" charset="0"/>
                <a:ea typeface="Arial" pitchFamily="34" charset="-122"/>
                <a:cs typeface="Arial" pitchFamily="34" charset="-120"/>
              </a:rPr>
              <a:t>Rehearsal Reports</a:t>
            </a:r>
            <a:endParaRPr lang="en-US" sz="2600" dirty="0"/>
          </a:p>
        </p:txBody>
      </p:sp>
      <p:sp>
        <p:nvSpPr>
          <p:cNvPr id="4" name="Text 2"/>
          <p:cNvSpPr/>
          <p:nvPr/>
        </p:nvSpPr>
        <p:spPr>
          <a:xfrm>
            <a:off x="1920240" y="1371600"/>
            <a:ext cx="8348472" cy="822960"/>
          </a:xfrm>
          <a:prstGeom prst="rect">
            <a:avLst/>
          </a:prstGeom>
          <a:noFill/>
          <a:ln/>
        </p:spPr>
        <p:txBody>
          <a:bodyPr wrap="square" rtlCol="0" anchor="ctr"/>
          <a:lstStyle/>
          <a:p>
            <a:pPr algn="ctr" indent="0" marL="0">
              <a:lnSpc>
                <a:spcPct val="130000"/>
              </a:lnSpc>
              <a:buNone/>
            </a:pPr>
            <a:r>
              <a:rPr lang="en-US" sz="1300" dirty="0">
                <a:solidFill>
                  <a:srgbClr val="A7B6AB"/>
                </a:solidFill>
                <a:latin typeface="Arial" pitchFamily="34" charset="0"/>
                <a:ea typeface="Arial" pitchFamily="34" charset="-122"/>
                <a:cs typeface="Arial" pitchFamily="34" charset="-120"/>
              </a:rPr>
              <a:t>Reports are written in a structured form and open in a distribution-ready view. From here the stage manager downloads a clean PDF, opens an email with the subject pre-filled, copies the text, or prints. Everything is ready to send to the company after the call.</a:t>
            </a:r>
            <a:endParaRPr lang="en-US" sz="1300" dirty="0"/>
          </a:p>
        </p:txBody>
      </p:sp>
      <p:pic>
        <p:nvPicPr>
          <p:cNvPr id="5" name="Image 0" descr="/tmp/claude-0/-home-user-Stagemgmt/e76b5e2d-147e-5e6b-b0bf-e11fb4768a64/scratchpad/shot-report.png">    </p:cNvPr>
          <p:cNvPicPr>
            <a:picLocks noChangeAspect="1"/>
          </p:cNvPicPr>
          <p:nvPr/>
        </p:nvPicPr>
        <p:blipFill>
          <a:blip r:embed="rId1"/>
          <a:stretch>
            <a:fillRect/>
          </a:stretch>
        </p:blipFill>
        <p:spPr>
          <a:xfrm>
            <a:off x="2441448" y="2331720"/>
            <a:ext cx="7315200" cy="4572000"/>
          </a:xfrm>
          <a:prstGeom prst="ellipse">
            <a:avLst/>
          </a:prstGeom>
        </p:spPr>
      </p:pic>
      <p:sp>
        <p:nvSpPr>
          <p:cNvPr id="6" name="Text 3"/>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311"/>
        </a:solidFill>
      </p:bgPr>
    </p:bg>
    <p:spTree>
      <p:nvGrpSpPr>
        <p:cNvPr id="1" name=""/>
        <p:cNvGrpSpPr/>
        <p:nvPr/>
      </p:nvGrpSpPr>
      <p:grpSpPr>
        <a:xfrm>
          <a:off x="0" y="0"/>
          <a:ext cx="0" cy="0"/>
          <a:chOff x="0" y="0"/>
          <a:chExt cx="0" cy="0"/>
        </a:xfrm>
      </p:grpSpPr>
      <p:sp>
        <p:nvSpPr>
          <p:cNvPr id="2" name="Text 0"/>
          <p:cNvSpPr/>
          <p:nvPr/>
        </p:nvSpPr>
        <p:spPr>
          <a:xfrm>
            <a:off x="548640" y="384048"/>
            <a:ext cx="9601200" cy="640080"/>
          </a:xfrm>
          <a:prstGeom prst="rect">
            <a:avLst/>
          </a:prstGeom>
          <a:noFill/>
          <a:ln/>
        </p:spPr>
        <p:txBody>
          <a:bodyPr wrap="square" rtlCol="0" anchor="ctr"/>
          <a:lstStyle/>
          <a:p>
            <a:pPr indent="0" marL="0">
              <a:buNone/>
            </a:pPr>
            <a:r>
              <a:rPr lang="en-US" sz="2600" b="1" dirty="0">
                <a:solidFill>
                  <a:srgbClr val="F1EFE7"/>
                </a:solidFill>
                <a:latin typeface="Arial" pitchFamily="34" charset="0"/>
                <a:ea typeface="Arial" pitchFamily="34" charset="-122"/>
                <a:cs typeface="Arial" pitchFamily="34" charset="-120"/>
              </a:rPr>
              <a:t>Roadmap, Toward a Full-Fledged App</a:t>
            </a:r>
            <a:endParaRPr lang="en-US" sz="2600" dirty="0"/>
          </a:p>
        </p:txBody>
      </p:sp>
      <p:sp>
        <p:nvSpPr>
          <p:cNvPr id="3" name="Text 1"/>
          <p:cNvSpPr/>
          <p:nvPr/>
        </p:nvSpPr>
        <p:spPr>
          <a:xfrm>
            <a:off x="10515600" y="384048"/>
            <a:ext cx="1097280" cy="640080"/>
          </a:xfrm>
          <a:prstGeom prst="rect">
            <a:avLst/>
          </a:prstGeom>
          <a:noFill/>
          <a:ln/>
        </p:spPr>
        <p:txBody>
          <a:bodyPr wrap="square" rtlCol="0" anchor="ctr"/>
          <a:lstStyle/>
          <a:p>
            <a:pPr algn="r" indent="0" marL="0">
              <a:buNone/>
            </a:pPr>
            <a:r>
              <a:rPr lang="en-US" sz="2200" b="1" dirty="0">
                <a:solidFill>
                  <a:srgbClr val="26302A"/>
                </a:solidFill>
                <a:latin typeface="Arial" pitchFamily="34" charset="0"/>
                <a:ea typeface="Arial" pitchFamily="34" charset="-122"/>
                <a:cs typeface="Arial" pitchFamily="34" charset="-120"/>
              </a:rPr>
              <a:t>05</a:t>
            </a:r>
            <a:endParaRPr lang="en-US" sz="2200" dirty="0"/>
          </a:p>
        </p:txBody>
      </p:sp>
      <p:sp>
        <p:nvSpPr>
          <p:cNvPr id="4" name="Shape 2"/>
          <p:cNvSpPr/>
          <p:nvPr/>
        </p:nvSpPr>
        <p:spPr>
          <a:xfrm>
            <a:off x="548640" y="1133856"/>
            <a:ext cx="11091672" cy="0"/>
          </a:xfrm>
          <a:prstGeom prst="line">
            <a:avLst/>
          </a:prstGeom>
          <a:noFill/>
          <a:ln w="25400">
            <a:solidFill>
              <a:srgbClr val="2FAE6B"/>
            </a:solidFill>
            <a:prstDash val="solid"/>
          </a:ln>
        </p:spPr>
      </p:sp>
      <p:sp>
        <p:nvSpPr>
          <p:cNvPr id="5" name="Text 3"/>
          <p:cNvSpPr/>
          <p:nvPr/>
        </p:nvSpPr>
        <p:spPr>
          <a:xfrm>
            <a:off x="548640" y="1554480"/>
            <a:ext cx="1371600" cy="841248"/>
          </a:xfrm>
          <a:prstGeom prst="rect">
            <a:avLst/>
          </a:prstGeom>
          <a:noFill/>
          <a:ln/>
        </p:spPr>
        <p:txBody>
          <a:bodyPr wrap="square" rtlCol="0" anchor="t"/>
          <a:lstStyle/>
          <a:p>
            <a:pPr algn="r" indent="0" marL="0">
              <a:buNone/>
            </a:pPr>
            <a:r>
              <a:rPr lang="en-US" sz="1300" b="1" dirty="0">
                <a:solidFill>
                  <a:srgbClr val="2FAE6B"/>
                </a:solidFill>
                <a:latin typeface="Arial" pitchFamily="34" charset="0"/>
                <a:ea typeface="Arial" pitchFamily="34" charset="-122"/>
                <a:cs typeface="Arial" pitchFamily="34" charset="-120"/>
              </a:rPr>
              <a:t>Now
</a:t>
            </a:r>
            <a:pPr algn="r" indent="0" marL="0">
              <a:buNone/>
            </a:pPr>
            <a:r>
              <a:rPr lang="en-US" sz="850" b="1" dirty="0">
                <a:solidFill>
                  <a:srgbClr val="6F7D73"/>
                </a:solidFill>
                <a:latin typeface="Arial" pitchFamily="34" charset="0"/>
                <a:ea typeface="Arial" pitchFamily="34" charset="-122"/>
                <a:cs typeface="Arial" pitchFamily="34" charset="-120"/>
              </a:rPr>
              <a:t>SHIPPED, v3.5</a:t>
            </a:r>
            <a:endParaRPr lang="en-US" sz="1300" dirty="0"/>
          </a:p>
        </p:txBody>
      </p:sp>
      <p:sp>
        <p:nvSpPr>
          <p:cNvPr id="6" name="Shape 4"/>
          <p:cNvSpPr/>
          <p:nvPr/>
        </p:nvSpPr>
        <p:spPr>
          <a:xfrm>
            <a:off x="2103120" y="1609344"/>
            <a:ext cx="164592" cy="164592"/>
          </a:xfrm>
          <a:prstGeom prst="ellipse">
            <a:avLst/>
          </a:prstGeom>
          <a:solidFill>
            <a:srgbClr val="2FAE6B"/>
          </a:solidFill>
          <a:ln w="19050">
            <a:solidFill>
              <a:srgbClr val="2FAE6B"/>
            </a:solidFill>
            <a:prstDash val="solid"/>
          </a:ln>
        </p:spPr>
      </p:sp>
      <p:sp>
        <p:nvSpPr>
          <p:cNvPr id="7" name="Shape 5"/>
          <p:cNvSpPr/>
          <p:nvPr/>
        </p:nvSpPr>
        <p:spPr>
          <a:xfrm>
            <a:off x="2185416" y="1773936"/>
            <a:ext cx="0" cy="713232"/>
          </a:xfrm>
          <a:prstGeom prst="line">
            <a:avLst/>
          </a:prstGeom>
          <a:noFill/>
          <a:ln w="19050">
            <a:solidFill>
              <a:srgbClr val="26302A"/>
            </a:solidFill>
            <a:prstDash val="solid"/>
          </a:ln>
        </p:spPr>
      </p:sp>
      <p:sp>
        <p:nvSpPr>
          <p:cNvPr id="8" name="Text 6"/>
          <p:cNvSpPr/>
          <p:nvPr/>
        </p:nvSpPr>
        <p:spPr>
          <a:xfrm>
            <a:off x="2514600" y="1554480"/>
            <a:ext cx="8961120" cy="365760"/>
          </a:xfrm>
          <a:prstGeom prst="rect">
            <a:avLst/>
          </a:prstGeom>
          <a:noFill/>
          <a:ln/>
        </p:spPr>
        <p:txBody>
          <a:bodyPr wrap="square" rtlCol="0" anchor="ctr"/>
          <a:lstStyle/>
          <a:p>
            <a:pPr indent="0" marL="0">
              <a:buNone/>
            </a:pPr>
            <a:r>
              <a:rPr lang="en-US" sz="1450" b="1" dirty="0">
                <a:solidFill>
                  <a:srgbClr val="F1EFE7"/>
                </a:solidFill>
                <a:latin typeface="Arial" pitchFamily="34" charset="0"/>
                <a:ea typeface="Arial" pitchFamily="34" charset="-122"/>
                <a:cs typeface="Arial" pitchFamily="34" charset="-120"/>
              </a:rPr>
              <a:t>Complete single-user prompt book</a:t>
            </a:r>
            <a:endParaRPr lang="en-US" sz="1450" dirty="0"/>
          </a:p>
        </p:txBody>
      </p:sp>
      <p:sp>
        <p:nvSpPr>
          <p:cNvPr id="9" name="Text 7"/>
          <p:cNvSpPr/>
          <p:nvPr/>
        </p:nvSpPr>
        <p:spPr>
          <a:xfrm>
            <a:off x="2514600" y="1901952"/>
            <a:ext cx="8961120" cy="457200"/>
          </a:xfrm>
          <a:prstGeom prst="rect">
            <a:avLst/>
          </a:prstGeom>
          <a:noFill/>
          <a:ln/>
        </p:spPr>
        <p:txBody>
          <a:bodyPr wrap="square" rtlCol="0" anchor="ctr"/>
          <a:lstStyle/>
          <a:p>
            <a:pPr indent="0" marL="0">
              <a:buNone/>
            </a:pPr>
            <a:r>
              <a:rPr lang="en-US" sz="1150" dirty="0">
                <a:solidFill>
                  <a:srgbClr val="A7B6AB"/>
                </a:solidFill>
                <a:latin typeface="Arial" pitchFamily="34" charset="0"/>
                <a:ea typeface="Arial" pitchFamily="34" charset="-122"/>
                <a:cs typeface="Arial" pitchFamily="34" charset="-120"/>
              </a:rPr>
              <a:t>All nine modules, offline, responsive, print &amp; PDF. Live and in use.</a:t>
            </a:r>
            <a:endParaRPr lang="en-US" sz="1150" dirty="0"/>
          </a:p>
        </p:txBody>
      </p:sp>
      <p:sp>
        <p:nvSpPr>
          <p:cNvPr id="10" name="Text 8"/>
          <p:cNvSpPr/>
          <p:nvPr/>
        </p:nvSpPr>
        <p:spPr>
          <a:xfrm>
            <a:off x="548640" y="2487168"/>
            <a:ext cx="1371600" cy="841248"/>
          </a:xfrm>
          <a:prstGeom prst="rect">
            <a:avLst/>
          </a:prstGeom>
          <a:noFill/>
          <a:ln/>
        </p:spPr>
        <p:txBody>
          <a:bodyPr wrap="square" rtlCol="0" anchor="t"/>
          <a:lstStyle/>
          <a:p>
            <a:pPr algn="r" indent="0" marL="0">
              <a:buNone/>
            </a:pPr>
            <a:r>
              <a:rPr lang="en-US" sz="1300" b="1" dirty="0">
                <a:solidFill>
                  <a:srgbClr val="2FAE6B"/>
                </a:solidFill>
                <a:latin typeface="Arial" pitchFamily="34" charset="0"/>
                <a:ea typeface="Arial" pitchFamily="34" charset="-122"/>
                <a:cs typeface="Arial" pitchFamily="34" charset="-120"/>
              </a:rPr>
              <a:t>Q3 2026
</a:t>
            </a:r>
            <a:pPr algn="r" indent="0" marL="0">
              <a:buNone/>
            </a:pPr>
            <a:r>
              <a:rPr lang="en-US" sz="850" b="1" dirty="0">
                <a:solidFill>
                  <a:srgbClr val="6F7D73"/>
                </a:solidFill>
                <a:latin typeface="Arial" pitchFamily="34" charset="0"/>
                <a:ea typeface="Arial" pitchFamily="34" charset="-122"/>
                <a:cs typeface="Arial" pitchFamily="34" charset="-120"/>
              </a:rPr>
              <a:t>PHASE 2a</a:t>
            </a:r>
            <a:endParaRPr lang="en-US" sz="1300" dirty="0"/>
          </a:p>
        </p:txBody>
      </p:sp>
      <p:sp>
        <p:nvSpPr>
          <p:cNvPr id="11" name="Shape 9"/>
          <p:cNvSpPr/>
          <p:nvPr/>
        </p:nvSpPr>
        <p:spPr>
          <a:xfrm>
            <a:off x="2103120" y="2542032"/>
            <a:ext cx="164592" cy="164592"/>
          </a:xfrm>
          <a:prstGeom prst="ellipse">
            <a:avLst/>
          </a:prstGeom>
          <a:solidFill>
            <a:srgbClr val="2FAE6B"/>
          </a:solidFill>
          <a:ln w="19050">
            <a:solidFill>
              <a:srgbClr val="2FAE6B"/>
            </a:solidFill>
            <a:prstDash val="solid"/>
          </a:ln>
        </p:spPr>
      </p:sp>
      <p:sp>
        <p:nvSpPr>
          <p:cNvPr id="12" name="Shape 10"/>
          <p:cNvSpPr/>
          <p:nvPr/>
        </p:nvSpPr>
        <p:spPr>
          <a:xfrm>
            <a:off x="2185416" y="2706624"/>
            <a:ext cx="0" cy="713232"/>
          </a:xfrm>
          <a:prstGeom prst="line">
            <a:avLst/>
          </a:prstGeom>
          <a:noFill/>
          <a:ln w="19050">
            <a:solidFill>
              <a:srgbClr val="26302A"/>
            </a:solidFill>
            <a:prstDash val="solid"/>
          </a:ln>
        </p:spPr>
      </p:sp>
      <p:sp>
        <p:nvSpPr>
          <p:cNvPr id="13" name="Text 11"/>
          <p:cNvSpPr/>
          <p:nvPr/>
        </p:nvSpPr>
        <p:spPr>
          <a:xfrm>
            <a:off x="2514600" y="2487168"/>
            <a:ext cx="8961120" cy="365760"/>
          </a:xfrm>
          <a:prstGeom prst="rect">
            <a:avLst/>
          </a:prstGeom>
          <a:noFill/>
          <a:ln/>
        </p:spPr>
        <p:txBody>
          <a:bodyPr wrap="square" rtlCol="0" anchor="ctr"/>
          <a:lstStyle/>
          <a:p>
            <a:pPr indent="0" marL="0">
              <a:buNone/>
            </a:pPr>
            <a:r>
              <a:rPr lang="en-US" sz="1450" b="1" dirty="0">
                <a:solidFill>
                  <a:srgbClr val="F1EFE7"/>
                </a:solidFill>
                <a:latin typeface="Arial" pitchFamily="34" charset="0"/>
                <a:ea typeface="Arial" pitchFamily="34" charset="-122"/>
                <a:cs typeface="Arial" pitchFamily="34" charset="-120"/>
              </a:rPr>
              <a:t>Sync and shareable views</a:t>
            </a:r>
            <a:endParaRPr lang="en-US" sz="1450" dirty="0"/>
          </a:p>
        </p:txBody>
      </p:sp>
      <p:sp>
        <p:nvSpPr>
          <p:cNvPr id="14" name="Text 12"/>
          <p:cNvSpPr/>
          <p:nvPr/>
        </p:nvSpPr>
        <p:spPr>
          <a:xfrm>
            <a:off x="2514600" y="2834640"/>
            <a:ext cx="8961120" cy="457200"/>
          </a:xfrm>
          <a:prstGeom prst="rect">
            <a:avLst/>
          </a:prstGeom>
          <a:noFill/>
          <a:ln/>
        </p:spPr>
        <p:txBody>
          <a:bodyPr wrap="square" rtlCol="0" anchor="ctr"/>
          <a:lstStyle/>
          <a:p>
            <a:pPr indent="0" marL="0">
              <a:buNone/>
            </a:pPr>
            <a:r>
              <a:rPr lang="en-US" sz="1150" dirty="0">
                <a:solidFill>
                  <a:srgbClr val="A7B6AB"/>
                </a:solidFill>
                <a:latin typeface="Arial" pitchFamily="34" charset="0"/>
                <a:ea typeface="Arial" pitchFamily="34" charset="-122"/>
                <a:cs typeface="Arial" pitchFamily="34" charset="-120"/>
              </a:rPr>
              <a:t>Accounts with cross-device sync and a shareable read-only link.</a:t>
            </a:r>
            <a:endParaRPr lang="en-US" sz="1150" dirty="0"/>
          </a:p>
        </p:txBody>
      </p:sp>
      <p:sp>
        <p:nvSpPr>
          <p:cNvPr id="15" name="Text 13"/>
          <p:cNvSpPr/>
          <p:nvPr/>
        </p:nvSpPr>
        <p:spPr>
          <a:xfrm>
            <a:off x="548640" y="3419856"/>
            <a:ext cx="1371600" cy="841248"/>
          </a:xfrm>
          <a:prstGeom prst="rect">
            <a:avLst/>
          </a:prstGeom>
          <a:noFill/>
          <a:ln/>
        </p:spPr>
        <p:txBody>
          <a:bodyPr wrap="square" rtlCol="0" anchor="t"/>
          <a:lstStyle/>
          <a:p>
            <a:pPr algn="r" indent="0" marL="0">
              <a:buNone/>
            </a:pPr>
            <a:r>
              <a:rPr lang="en-US" sz="1300" b="1" dirty="0">
                <a:solidFill>
                  <a:srgbClr val="2FAE6B"/>
                </a:solidFill>
                <a:latin typeface="Arial" pitchFamily="34" charset="0"/>
                <a:ea typeface="Arial" pitchFamily="34" charset="-122"/>
                <a:cs typeface="Arial" pitchFamily="34" charset="-120"/>
              </a:rPr>
              <a:t>Q4 2026
</a:t>
            </a:r>
            <a:pPr algn="r" indent="0" marL="0">
              <a:buNone/>
            </a:pPr>
            <a:r>
              <a:rPr lang="en-US" sz="850" b="1" dirty="0">
                <a:solidFill>
                  <a:srgbClr val="6F7D73"/>
                </a:solidFill>
                <a:latin typeface="Arial" pitchFamily="34" charset="0"/>
                <a:ea typeface="Arial" pitchFamily="34" charset="-122"/>
                <a:cs typeface="Arial" pitchFamily="34" charset="-120"/>
              </a:rPr>
              <a:t>PHASE 2b</a:t>
            </a:r>
            <a:endParaRPr lang="en-US" sz="1300" dirty="0"/>
          </a:p>
        </p:txBody>
      </p:sp>
      <p:sp>
        <p:nvSpPr>
          <p:cNvPr id="16" name="Shape 14"/>
          <p:cNvSpPr/>
          <p:nvPr/>
        </p:nvSpPr>
        <p:spPr>
          <a:xfrm>
            <a:off x="2103120" y="3474720"/>
            <a:ext cx="164592" cy="164592"/>
          </a:xfrm>
          <a:prstGeom prst="ellipse">
            <a:avLst/>
          </a:prstGeom>
          <a:solidFill>
            <a:srgbClr val="0E1311"/>
          </a:solidFill>
          <a:ln w="19050">
            <a:solidFill>
              <a:srgbClr val="9FB8A6"/>
            </a:solidFill>
            <a:prstDash val="solid"/>
          </a:ln>
        </p:spPr>
      </p:sp>
      <p:sp>
        <p:nvSpPr>
          <p:cNvPr id="17" name="Shape 15"/>
          <p:cNvSpPr/>
          <p:nvPr/>
        </p:nvSpPr>
        <p:spPr>
          <a:xfrm>
            <a:off x="2185416" y="3639312"/>
            <a:ext cx="0" cy="713232"/>
          </a:xfrm>
          <a:prstGeom prst="line">
            <a:avLst/>
          </a:prstGeom>
          <a:noFill/>
          <a:ln w="19050">
            <a:solidFill>
              <a:srgbClr val="26302A"/>
            </a:solidFill>
            <a:prstDash val="solid"/>
          </a:ln>
        </p:spPr>
      </p:sp>
      <p:sp>
        <p:nvSpPr>
          <p:cNvPr id="18" name="Text 16"/>
          <p:cNvSpPr/>
          <p:nvPr/>
        </p:nvSpPr>
        <p:spPr>
          <a:xfrm>
            <a:off x="2514600" y="3419856"/>
            <a:ext cx="8961120" cy="365760"/>
          </a:xfrm>
          <a:prstGeom prst="rect">
            <a:avLst/>
          </a:prstGeom>
          <a:noFill/>
          <a:ln/>
        </p:spPr>
        <p:txBody>
          <a:bodyPr wrap="square" rtlCol="0" anchor="ctr"/>
          <a:lstStyle/>
          <a:p>
            <a:pPr indent="0" marL="0">
              <a:buNone/>
            </a:pPr>
            <a:r>
              <a:rPr lang="en-US" sz="1450" b="1" dirty="0">
                <a:solidFill>
                  <a:srgbClr val="F1EFE7"/>
                </a:solidFill>
                <a:latin typeface="Arial" pitchFamily="34" charset="0"/>
                <a:ea typeface="Arial" pitchFamily="34" charset="-122"/>
                <a:cs typeface="Arial" pitchFamily="34" charset="-120"/>
              </a:rPr>
              <a:t>Collect and remind</a:t>
            </a:r>
            <a:endParaRPr lang="en-US" sz="1450" dirty="0"/>
          </a:p>
        </p:txBody>
      </p:sp>
      <p:sp>
        <p:nvSpPr>
          <p:cNvPr id="19" name="Text 17"/>
          <p:cNvSpPr/>
          <p:nvPr/>
        </p:nvSpPr>
        <p:spPr>
          <a:xfrm>
            <a:off x="2514600" y="3767328"/>
            <a:ext cx="8961120" cy="457200"/>
          </a:xfrm>
          <a:prstGeom prst="rect">
            <a:avLst/>
          </a:prstGeom>
          <a:noFill/>
          <a:ln/>
        </p:spPr>
        <p:txBody>
          <a:bodyPr wrap="square" rtlCol="0" anchor="ctr"/>
          <a:lstStyle/>
          <a:p>
            <a:pPr indent="0" marL="0">
              <a:buNone/>
            </a:pPr>
            <a:r>
              <a:rPr lang="en-US" sz="1150" dirty="0">
                <a:solidFill>
                  <a:srgbClr val="A7B6AB"/>
                </a:solidFill>
                <a:latin typeface="Arial" pitchFamily="34" charset="0"/>
                <a:ea typeface="Arial" pitchFamily="34" charset="-122"/>
                <a:cs typeface="Arial" pitchFamily="34" charset="-120"/>
              </a:rPr>
              <a:t>Availability forms, reminders, and email the script to cast.</a:t>
            </a:r>
            <a:endParaRPr lang="en-US" sz="1150" dirty="0"/>
          </a:p>
        </p:txBody>
      </p:sp>
      <p:sp>
        <p:nvSpPr>
          <p:cNvPr id="20" name="Text 18"/>
          <p:cNvSpPr/>
          <p:nvPr/>
        </p:nvSpPr>
        <p:spPr>
          <a:xfrm>
            <a:off x="548640" y="4352544"/>
            <a:ext cx="1371600" cy="841248"/>
          </a:xfrm>
          <a:prstGeom prst="rect">
            <a:avLst/>
          </a:prstGeom>
          <a:noFill/>
          <a:ln/>
        </p:spPr>
        <p:txBody>
          <a:bodyPr wrap="square" rtlCol="0" anchor="t"/>
          <a:lstStyle/>
          <a:p>
            <a:pPr algn="r" indent="0" marL="0">
              <a:buNone/>
            </a:pPr>
            <a:r>
              <a:rPr lang="en-US" sz="1300" b="1" dirty="0">
                <a:solidFill>
                  <a:srgbClr val="2FAE6B"/>
                </a:solidFill>
                <a:latin typeface="Arial" pitchFamily="34" charset="0"/>
                <a:ea typeface="Arial" pitchFamily="34" charset="-122"/>
                <a:cs typeface="Arial" pitchFamily="34" charset="-120"/>
              </a:rPr>
              <a:t>Q1 2027
</a:t>
            </a:r>
            <a:pPr algn="r" indent="0" marL="0">
              <a:buNone/>
            </a:pPr>
            <a:r>
              <a:rPr lang="en-US" sz="850" b="1" dirty="0">
                <a:solidFill>
                  <a:srgbClr val="6F7D73"/>
                </a:solidFill>
                <a:latin typeface="Arial" pitchFamily="34" charset="0"/>
                <a:ea typeface="Arial" pitchFamily="34" charset="-122"/>
                <a:cs typeface="Arial" pitchFamily="34" charset="-120"/>
              </a:rPr>
              <a:t>PHASE 3a</a:t>
            </a:r>
            <a:endParaRPr lang="en-US" sz="1300" dirty="0"/>
          </a:p>
        </p:txBody>
      </p:sp>
      <p:sp>
        <p:nvSpPr>
          <p:cNvPr id="21" name="Shape 19"/>
          <p:cNvSpPr/>
          <p:nvPr/>
        </p:nvSpPr>
        <p:spPr>
          <a:xfrm>
            <a:off x="2103120" y="4407408"/>
            <a:ext cx="164592" cy="164592"/>
          </a:xfrm>
          <a:prstGeom prst="ellipse">
            <a:avLst/>
          </a:prstGeom>
          <a:solidFill>
            <a:srgbClr val="0E1311"/>
          </a:solidFill>
          <a:ln w="19050">
            <a:solidFill>
              <a:srgbClr val="9FB8A6"/>
            </a:solidFill>
            <a:prstDash val="solid"/>
          </a:ln>
        </p:spPr>
      </p:sp>
      <p:sp>
        <p:nvSpPr>
          <p:cNvPr id="22" name="Shape 20"/>
          <p:cNvSpPr/>
          <p:nvPr/>
        </p:nvSpPr>
        <p:spPr>
          <a:xfrm>
            <a:off x="2185416" y="4572000"/>
            <a:ext cx="0" cy="713232"/>
          </a:xfrm>
          <a:prstGeom prst="line">
            <a:avLst/>
          </a:prstGeom>
          <a:noFill/>
          <a:ln w="19050">
            <a:solidFill>
              <a:srgbClr val="26302A"/>
            </a:solidFill>
            <a:prstDash val="solid"/>
          </a:ln>
        </p:spPr>
      </p:sp>
      <p:sp>
        <p:nvSpPr>
          <p:cNvPr id="23" name="Text 21"/>
          <p:cNvSpPr/>
          <p:nvPr/>
        </p:nvSpPr>
        <p:spPr>
          <a:xfrm>
            <a:off x="2514600" y="4352544"/>
            <a:ext cx="8961120" cy="365760"/>
          </a:xfrm>
          <a:prstGeom prst="rect">
            <a:avLst/>
          </a:prstGeom>
          <a:noFill/>
          <a:ln/>
        </p:spPr>
        <p:txBody>
          <a:bodyPr wrap="square" rtlCol="0" anchor="ctr"/>
          <a:lstStyle/>
          <a:p>
            <a:pPr indent="0" marL="0">
              <a:buNone/>
            </a:pPr>
            <a:r>
              <a:rPr lang="en-US" sz="1450" b="1" dirty="0">
                <a:solidFill>
                  <a:srgbClr val="F1EFE7"/>
                </a:solidFill>
                <a:latin typeface="Arial" pitchFamily="34" charset="0"/>
                <a:ea typeface="Arial" pitchFamily="34" charset="-122"/>
                <a:cs typeface="Arial" pitchFamily="34" charset="-120"/>
              </a:rPr>
              <a:t>Teams, companies, and roles</a:t>
            </a:r>
            <a:endParaRPr lang="en-US" sz="1450" dirty="0"/>
          </a:p>
        </p:txBody>
      </p:sp>
      <p:sp>
        <p:nvSpPr>
          <p:cNvPr id="24" name="Text 22"/>
          <p:cNvSpPr/>
          <p:nvPr/>
        </p:nvSpPr>
        <p:spPr>
          <a:xfrm>
            <a:off x="2514600" y="4700016"/>
            <a:ext cx="8961120" cy="457200"/>
          </a:xfrm>
          <a:prstGeom prst="rect">
            <a:avLst/>
          </a:prstGeom>
          <a:noFill/>
          <a:ln/>
        </p:spPr>
        <p:txBody>
          <a:bodyPr wrap="square" rtlCol="0" anchor="ctr"/>
          <a:lstStyle/>
          <a:p>
            <a:pPr indent="0" marL="0">
              <a:buNone/>
            </a:pPr>
            <a:r>
              <a:rPr lang="en-US" sz="1150" dirty="0">
                <a:solidFill>
                  <a:srgbClr val="A7B6AB"/>
                </a:solidFill>
                <a:latin typeface="Arial" pitchFamily="34" charset="0"/>
                <a:ea typeface="Arial" pitchFamily="34" charset="-122"/>
                <a:cs typeface="Arial" pitchFamily="34" charset="-120"/>
              </a:rPr>
              <a:t>Collaboration, company accounts and roles, subscription tier.</a:t>
            </a:r>
            <a:endParaRPr lang="en-US" sz="1150" dirty="0"/>
          </a:p>
        </p:txBody>
      </p:sp>
      <p:sp>
        <p:nvSpPr>
          <p:cNvPr id="25" name="Text 23"/>
          <p:cNvSpPr/>
          <p:nvPr/>
        </p:nvSpPr>
        <p:spPr>
          <a:xfrm>
            <a:off x="548640" y="5285232"/>
            <a:ext cx="1371600" cy="841248"/>
          </a:xfrm>
          <a:prstGeom prst="rect">
            <a:avLst/>
          </a:prstGeom>
          <a:noFill/>
          <a:ln/>
        </p:spPr>
        <p:txBody>
          <a:bodyPr wrap="square" rtlCol="0" anchor="t"/>
          <a:lstStyle/>
          <a:p>
            <a:pPr algn="r" indent="0" marL="0">
              <a:buNone/>
            </a:pPr>
            <a:r>
              <a:rPr lang="en-US" sz="1300" b="1" dirty="0">
                <a:solidFill>
                  <a:srgbClr val="2FAE6B"/>
                </a:solidFill>
                <a:latin typeface="Arial" pitchFamily="34" charset="0"/>
                <a:ea typeface="Arial" pitchFamily="34" charset="-122"/>
                <a:cs typeface="Arial" pitchFamily="34" charset="-120"/>
              </a:rPr>
              <a:t>Q2 2027
</a:t>
            </a:r>
            <a:pPr algn="r" indent="0" marL="0">
              <a:buNone/>
            </a:pPr>
            <a:r>
              <a:rPr lang="en-US" sz="850" b="1" dirty="0">
                <a:solidFill>
                  <a:srgbClr val="6F7D73"/>
                </a:solidFill>
                <a:latin typeface="Arial" pitchFamily="34" charset="0"/>
                <a:ea typeface="Arial" pitchFamily="34" charset="-122"/>
                <a:cs typeface="Arial" pitchFamily="34" charset="-120"/>
              </a:rPr>
              <a:t>PHASE 3b</a:t>
            </a:r>
            <a:endParaRPr lang="en-US" sz="1300" dirty="0"/>
          </a:p>
        </p:txBody>
      </p:sp>
      <p:sp>
        <p:nvSpPr>
          <p:cNvPr id="26" name="Shape 24"/>
          <p:cNvSpPr/>
          <p:nvPr/>
        </p:nvSpPr>
        <p:spPr>
          <a:xfrm>
            <a:off x="2103120" y="5340096"/>
            <a:ext cx="164592" cy="164592"/>
          </a:xfrm>
          <a:prstGeom prst="ellipse">
            <a:avLst/>
          </a:prstGeom>
          <a:solidFill>
            <a:srgbClr val="0E1311"/>
          </a:solidFill>
          <a:ln w="19050">
            <a:solidFill>
              <a:srgbClr val="9FB8A6"/>
            </a:solidFill>
            <a:prstDash val="solid"/>
          </a:ln>
        </p:spPr>
      </p:sp>
      <p:sp>
        <p:nvSpPr>
          <p:cNvPr id="27" name="Text 25"/>
          <p:cNvSpPr/>
          <p:nvPr/>
        </p:nvSpPr>
        <p:spPr>
          <a:xfrm>
            <a:off x="2514600" y="5285232"/>
            <a:ext cx="8961120" cy="365760"/>
          </a:xfrm>
          <a:prstGeom prst="rect">
            <a:avLst/>
          </a:prstGeom>
          <a:noFill/>
          <a:ln/>
        </p:spPr>
        <p:txBody>
          <a:bodyPr wrap="square" rtlCol="0" anchor="ctr"/>
          <a:lstStyle/>
          <a:p>
            <a:pPr indent="0" marL="0">
              <a:buNone/>
            </a:pPr>
            <a:r>
              <a:rPr lang="en-US" sz="1450" b="1" dirty="0">
                <a:solidFill>
                  <a:srgbClr val="F1EFE7"/>
                </a:solidFill>
                <a:latin typeface="Arial" pitchFamily="34" charset="0"/>
                <a:ea typeface="Arial" pitchFamily="34" charset="-122"/>
                <a:cs typeface="Arial" pitchFamily="34" charset="-120"/>
              </a:rPr>
              <a:t>Deep integrations and a native app</a:t>
            </a:r>
            <a:endParaRPr lang="en-US" sz="1450" dirty="0"/>
          </a:p>
        </p:txBody>
      </p:sp>
      <p:sp>
        <p:nvSpPr>
          <p:cNvPr id="28" name="Text 26"/>
          <p:cNvSpPr/>
          <p:nvPr/>
        </p:nvSpPr>
        <p:spPr>
          <a:xfrm>
            <a:off x="2514600" y="5632704"/>
            <a:ext cx="8961120" cy="457200"/>
          </a:xfrm>
          <a:prstGeom prst="rect">
            <a:avLst/>
          </a:prstGeom>
          <a:noFill/>
          <a:ln/>
        </p:spPr>
        <p:txBody>
          <a:bodyPr wrap="square" rtlCol="0" anchor="ctr"/>
          <a:lstStyle/>
          <a:p>
            <a:pPr indent="0" marL="0">
              <a:buNone/>
            </a:pPr>
            <a:r>
              <a:rPr lang="en-US" sz="1150" dirty="0">
                <a:solidFill>
                  <a:srgbClr val="A7B6AB"/>
                </a:solidFill>
                <a:latin typeface="Arial" pitchFamily="34" charset="0"/>
                <a:ea typeface="Arial" pitchFamily="34" charset="-122"/>
                <a:cs typeface="Arial" pitchFamily="34" charset="-120"/>
              </a:rPr>
              <a:t>Script-page linking, native app, calendar sync, e-signature sign-in.</a:t>
            </a:r>
            <a:endParaRPr lang="en-US" sz="1150" dirty="0"/>
          </a:p>
        </p:txBody>
      </p:sp>
      <p:sp>
        <p:nvSpPr>
          <p:cNvPr id="29" name="Text 27"/>
          <p:cNvSpPr/>
          <p:nvPr/>
        </p:nvSpPr>
        <p:spPr>
          <a:xfrm>
            <a:off x="548640" y="6446520"/>
            <a:ext cx="7315200" cy="274320"/>
          </a:xfrm>
          <a:prstGeom prst="rect">
            <a:avLst/>
          </a:prstGeom>
          <a:noFill/>
          <a:ln/>
        </p:spPr>
        <p:txBody>
          <a:bodyPr wrap="square" rtlCol="0" anchor="ctr"/>
          <a:lstStyle/>
          <a:p>
            <a:pPr indent="0" marL="0">
              <a:buNone/>
            </a:pPr>
            <a:r>
              <a:rPr lang="en-US" sz="800" b="1" dirty="0">
                <a:solidFill>
                  <a:srgbClr val="9FB8A6"/>
                </a:solidFill>
                <a:latin typeface="Arial" pitchFamily="34" charset="0"/>
                <a:ea typeface="Arial" pitchFamily="34" charset="-122"/>
                <a:cs typeface="Arial" pitchFamily="34" charset="-120"/>
              </a:rPr>
              <a:t>Standby</a:t>
            </a:r>
            <a:pPr indent="0" marL="0">
              <a:buNone/>
            </a:pPr>
            <a:r>
              <a:rPr lang="en-US" sz="800" dirty="0">
                <a:solidFill>
                  <a:srgbClr val="6F7D73"/>
                </a:solidFill>
                <a:latin typeface="Arial" pitchFamily="34" charset="0"/>
                <a:ea typeface="Arial" pitchFamily="34" charset="-122"/>
                <a:cs typeface="Arial" pitchFamily="34" charset="-120"/>
              </a:rPr>
              <a:t>  ·  Product Overview &amp; Roadmap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2026-07-07T02:33:35Z</dcterms:created>
  <dcterms:modified xsi:type="dcterms:W3CDTF">2026-07-07T02:33:35Z</dcterms:modified>
</cp:coreProperties>
</file>